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slides/slide25.xml" ContentType="application/vnd.openxmlformats-officedocument.presentationml.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25"/>
  </p:notesMasterIdLst>
  <p:sldIdLst>
    <p:sldId id="351" r:id="rId2"/>
    <p:sldId id="363" r:id="rId3"/>
    <p:sldId id="329" r:id="rId4"/>
    <p:sldId id="330" r:id="rId5"/>
    <p:sldId id="364" r:id="rId6"/>
    <p:sldId id="343" r:id="rId18"/>
    <p:sldId id="365" r:id="rId7"/>
    <p:sldId id="366" r:id="rId8"/>
    <p:sldId id="334" r:id="rId9"/>
    <p:sldId id="335" r:id="rId10"/>
    <p:sldId id="339" r:id="rId14"/>
    <p:sldId id="346" r:id="rId20"/>
    <p:sldId id="367" r:id="rId31"/>
    <p:sldId id="345" r:id="rId19"/>
    <p:sldId id="347" r:id="rId21"/>
    <p:sldId id="348" r:id="rId22"/>
    <p:sldId id="368" r:id="rId32"/>
    <p:sldId id="34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D1674-5D8C-E6BD-F669-5C58C492E8DC}" v="16" dt="2026-10-21T12:43:47.747"/>
    <p1510:client id="{C31B08A2-41B4-B267-AB77-2E906ED109F8}" v="2" dt="2026-10-21T18:41:17.810"/>
    <p1510:client id="{F6C1B630-FC00-4A15-B4FB-6E479AF5D008}" v="6" dt="2026-10-21T09:52:20.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slide" Target="slides/slide1.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  <Relationship Id="rId31" Type="http://schemas.openxmlformats.org/officeDocument/2006/relationships/slide" Target="slides/slide24.xml"/>
  <Relationship Id="rId32" Type="http://schemas.openxmlformats.org/officeDocument/2006/relationships/slide" Target="slides/slide25.xml"/>
</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57_E0DC7DFD.xlsx"/></Relationships>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1B2A34"/>
                </a:solidFill>
                <a:latin typeface="Arial"/>
              </a:defRPr>
            </a:pPr>
            <a:r>
              <a:rPr lang="en-GB" sz="1100" b="0" i="0" u="none" strike="noStrike">
                <a:solidFill>
                  <a:srgbClr val="1B2A34"/>
                </a:solidFill>
                <a:latin typeface="Arial"/>
              </a:rPr>
              <a:t>MSE relative to HAR, 12 predictors (&lt; 1 = better)</a:t>
            </a:r>
          </a:p>
        </c:rich>
      </c:tx>
      <c:overlay val="0"/>
    </c:title>
    <c:autoTitleDeleted val="0"/>
    <c:plotArea>
      <c:layout/>
      <c:barChart>
        <c:barDir val="col"/>
        <c:grouping val="clustered"/>
        <c:varyColors val="0"/>
        <c:ser>
          <c:idx val="0"/>
          <c:order val="0"/>
          <c:tx>
            <c:strRef>
              <c:f>Sheet1!$B$1</c:f>
              <c:strCache>
                <c:ptCount val="1"/>
                <c:pt idx="0">
                  <c:v>1 day</c:v>
                </c:pt>
              </c:strCache>
            </c:strRef>
          </c:tx>
          <c:spPr>
            <a:solidFill>
              <a:srgbClr val="C9D3D9"/>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Sheet1!$B$2:$B$6</c:f>
              <c:numCache>
                <c:formatCode>General</c:formatCode>
                <c:ptCount val="5"/>
                <c:pt idx="0">
                  <c:v>0.96599999999999997</c:v>
                </c:pt>
                <c:pt idx="1">
                  <c:v>0.90100000000000002</c:v>
                </c:pt>
                <c:pt idx="2">
                  <c:v>0.91600000000000004</c:v>
                </c:pt>
                <c:pt idx="3">
                  <c:v>0.90100000000000002</c:v>
                </c:pt>
                <c:pt idx="4">
                  <c:v>0.88500000000000001</c:v>
                </c:pt>
              </c:numCache>
            </c:numRef>
          </c:val>
          <c:extLst>
            <c:ext xmlns:c16="http://schemas.microsoft.com/office/drawing/2014/chart" uri="{C3380CC4-5D6E-409C-BE32-E72D297353CC}">
              <c16:uniqueId val="{00000000-5E40-4845-BEEE-D460A731E17A}"/>
            </c:ext>
          </c:extLst>
        </c:ser>
        <c:ser>
          <c:idx val="1"/>
          <c:order val="1"/>
          <c:tx>
            <c:strRef>
              <c:f>Sheet1!$C$1</c:f>
              <c:strCache>
                <c:ptCount val="1"/>
                <c:pt idx="0">
                  <c:v>1 week</c:v>
                </c:pt>
              </c:strCache>
            </c:strRef>
          </c:tx>
          <c:spPr>
            <a:solidFill>
              <a:srgbClr val="6F9AA3"/>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Sheet1!$C$2:$C$6</c:f>
              <c:numCache>
                <c:formatCode>General</c:formatCode>
                <c:ptCount val="5"/>
                <c:pt idx="0">
                  <c:v>1.0369999999999999</c:v>
                </c:pt>
                <c:pt idx="1">
                  <c:v>0.97</c:v>
                </c:pt>
                <c:pt idx="2">
                  <c:v>0.92500000000000004</c:v>
                </c:pt>
                <c:pt idx="3">
                  <c:v>0.79600000000000004</c:v>
                </c:pt>
                <c:pt idx="4">
                  <c:v>0.84599999999999997</c:v>
                </c:pt>
              </c:numCache>
            </c:numRef>
          </c:val>
          <c:extLst>
            <c:ext xmlns:c16="http://schemas.microsoft.com/office/drawing/2014/chart" uri="{C3380CC4-5D6E-409C-BE32-E72D297353CC}">
              <c16:uniqueId val="{00000001-5E40-4845-BEEE-D460A731E17A}"/>
            </c:ext>
          </c:extLst>
        </c:ser>
        <c:ser>
          <c:idx val="2"/>
          <c:order val="2"/>
          <c:tx>
            <c:strRef>
              <c:f>Sheet1!$D$1</c:f>
              <c:strCache>
                <c:ptCount val="1"/>
                <c:pt idx="0">
                  <c:v>1 month</c:v>
                </c:pt>
              </c:strCache>
            </c:strRef>
          </c:tx>
          <c:spPr>
            <a:solidFill>
              <a:srgbClr val="1F5F6B"/>
            </a:solidFill>
            <a:effectLst/>
          </c:spPr>
          <c:invertIfNegative val="0"/>
          <c:cat>
            <c:strRef>
              <c:f>Sheet1!$A$2:$A$6</c:f>
              <c:strCache>
                <c:ptCount val="5"/>
                <c:pt idx="0">
                  <c:v>HAR-X</c:v>
                </c:pt>
                <c:pt idx="1">
                  <c:v>LogHAR</c:v>
                </c:pt>
                <c:pt idx="2">
                  <c:v>Elastic Net</c:v>
                </c:pt>
                <c:pt idx="3">
                  <c:v>Random Forest</c:v>
                </c:pt>
                <c:pt idx="4">
                  <c:v>NN₂¹⁰</c:v>
                </c:pt>
              </c:strCache>
            </c:strRef>
          </c:cat>
          <c:val>
            <c:numRef>
              <c:f>Sheet1!$D$2:$D$6</c:f>
              <c:numCache>
                <c:formatCode>General</c:formatCode>
                <c:ptCount val="5"/>
                <c:pt idx="0">
                  <c:v>1.29</c:v>
                </c:pt>
                <c:pt idx="1">
                  <c:v>0.91900000000000004</c:v>
                </c:pt>
                <c:pt idx="2">
                  <c:v>1.107</c:v>
                </c:pt>
                <c:pt idx="3">
                  <c:v>0.60399999999999998</c:v>
                </c:pt>
                <c:pt idx="4">
                  <c:v>0.78600000000000003</c:v>
                </c:pt>
              </c:numCache>
            </c:numRef>
          </c:val>
          <c:extLst>
            <c:ext xmlns:c16="http://schemas.microsoft.com/office/drawing/2014/chart" uri="{C3380CC4-5D6E-409C-BE32-E72D297353CC}">
              <c16:uniqueId val="{00000002-5E40-4845-BEEE-D460A731E17A}"/>
            </c:ext>
          </c:extLst>
        </c:ser>
        <c:dLbls>
          <c:showLegendKey val="0"/>
          <c:showVal val="0"/>
          <c:showCatName val="0"/>
          <c:showSerName val="0"/>
          <c:showPercent val="0"/>
          <c:showBubbleSize val="0"/>
        </c:dLbls>
        <c:gapWidth val="50"/>
        <c:axId val="2094734554"/>
        <c:axId val="2094734552"/>
      </c:barChart>
      <c:lineChart>
        <c:grouping val="standard"/>
        <c:varyColors val="0"/>
        <c:ser>
          <c:idx val="3"/>
          <c:order val="3"/>
          <c:tx>
            <c:strRef>
              <c:f>Sheet1!$E$1</c:f>
              <c:strCache>
                <c:ptCount val="1"/>
                <c:pt idx="0">
                  <c:v>HAR = 1.00</c:v>
                </c:pt>
              </c:strCache>
            </c:strRef>
          </c:tx>
          <c:spPr>
            <a:ln w="19050" cap="flat">
              <a:solidFill>
                <a:srgbClr val="C9822B"/>
              </a:solidFill>
              <a:prstDash val="dash"/>
              <a:round/>
            </a:ln>
            <a:effectLst/>
          </c:spPr>
          <c:marker>
            <c:symbol val="none"/>
          </c:marker>
          <c:cat>
            <c:strRef>
              <c:f>Sheet1!$A$2:$A$6</c:f>
              <c:strCache>
                <c:ptCount val="5"/>
                <c:pt idx="0">
                  <c:v>HAR-X</c:v>
                </c:pt>
                <c:pt idx="1">
                  <c:v>LogHAR</c:v>
                </c:pt>
                <c:pt idx="2">
                  <c:v>Elastic Net</c:v>
                </c:pt>
                <c:pt idx="3">
                  <c:v>Random Forest</c:v>
                </c:pt>
                <c:pt idx="4">
                  <c:v>NN₂¹⁰</c:v>
                </c:pt>
              </c:strCache>
            </c:strRef>
          </c:cat>
          <c:val>
            <c:numRef>
              <c:f>Sheet1!$E$2:$E$6</c:f>
              <c:numCache>
                <c:formatCode>General</c:formatCode>
                <c:ptCount val="5"/>
                <c:pt idx="0">
                  <c:v>1</c:v>
                </c:pt>
                <c:pt idx="1">
                  <c:v>1</c:v>
                </c:pt>
                <c:pt idx="2">
                  <c:v>1</c:v>
                </c:pt>
                <c:pt idx="3">
                  <c:v>1</c:v>
                </c:pt>
                <c:pt idx="4">
                  <c:v>1</c:v>
                </c:pt>
              </c:numCache>
            </c:numRef>
          </c:val>
          <c:smooth val="0"/>
          <c:extLst>
            <c:ext xmlns:c16="http://schemas.microsoft.com/office/drawing/2014/chart" uri="{C3380CC4-5D6E-409C-BE32-E72D297353CC}">
              <c16:uniqueId val="{00000003-5E40-4845-BEEE-D460A731E17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34"/>
                </a:solidFill>
                <a:latin typeface="Arial"/>
              </a:defRPr>
            </a:pPr>
            <a:endParaRPr lang="en-US"/>
          </a:p>
        </c:txPr>
        <c:crossAx val="2094734552"/>
        <c:crosses val="autoZero"/>
        <c:auto val="1"/>
        <c:lblAlgn val="ctr"/>
        <c:lblOffset val="100"/>
        <c:noMultiLvlLbl val="1"/>
      </c:catAx>
      <c:valAx>
        <c:axId val="2094734552"/>
        <c:scaling>
          <c:orientation val="minMax"/>
          <c:max val="1.3"/>
          <c:min val="0.5"/>
        </c:scaling>
        <c:delete val="0"/>
        <c:axPos val="l"/>
        <c:majorGridlines>
          <c:spPr>
            <a:ln w="6350" cap="flat">
              <a:solidFill>
                <a:srgbClr val="E6EA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3"/>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900">
              <a:solidFill>
                <a:srgbClr val="5F6B7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Christensen, Kim; Siggaard, Mathias; Veliyev, Bezirgen: A machine learning approach to volatility forecasting. Manuscript, May 2022, arXiv:2601.13014v1 (January 19,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serves as the agenda and handover plan between presenters.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Introduction, pp. 1–2. The authors emphasize asset pricing, portfolio allocation, and risk management, as well as the high predictability of volatility compared with returns.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Section 2.2, Equation (5), pp. 3–4. HAR uses daily, weekly, and monthly averages of lagged realized variance.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30 Dow stocks from VOLARE (open access, built from cleaned tick data). Target is daily 5-minute realized variance, the same estimator as the paper (which used paid NYSE TAQ data).</a:t>
            </a:r>
          </a:p>
          <a:p>
            <a:r>
              <a:t>Extra predictors as in the paper: implied volatility per stock (we use LSEG 30-day ATM IV; the paper used OptionMetrics model-free IV; JNJ and KO have no IV in LSEG), VIX, T-bill, EPU, ADS, Hang Seng, momentum, dollar volume.</a:t>
            </a:r>
          </a:p>
          <a:p>
            <a:r>
              <a:t>The chart shows why the sample is interesting: two big volatility shocks, COVID in 2020 and the tariff shock in April 2025, plus the 2022 rate-hike year.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Paper, Sections 2 and 3, especially pp. 13–15 and Table 1. M_HAR contains the three classic RV lags. M_ALL adds nine firm-level and macroeconomic variables.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design as the paper: forecasts of average RV over the next 1, 5 and 22 days, rolling re-estimation, relative MSE versus HAR, Diebold–Mariano tests.</a:t>
            </a:r>
          </a:p>
          <a:p>
            <a:r>
              <a:t>Our extension: three splits. Baseline = paper's 70/10/20 split, so COVID ends up in the training data. COVID in test = train on calm 2016–mid 2019, test on 2020–2026 (like the paper's 1,000-day robustness check). Without 2020 = baseline split but the year 2020 removed from every estimation window.</a:t>
            </a:r>
          </a:p>
          <a:p>
            <a:r>
              <a:t>All 12 models are estimated by our own Python code (volml.py) for 30 stocks, 2 information sets, 3 horizons and 3 splits.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4A71-9550-8446-2543-77B33E0E3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0EB5B-C549-183F-C6C1-C4F93EFB8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0C630-61DC-40FF-0285-61BB81C2A1EB}"/>
              </a:ext>
            </a:extLst>
          </p:cNvPr>
          <p:cNvSpPr>
            <a:spLocks noGrp="1"/>
          </p:cNvSpPr>
          <p:nvPr>
            <p:ph type="body" idx="1"/>
          </p:nvPr>
        </p:nvSpPr>
        <p:spPr/>
        <p:txBody>
          <a:bodyPr/>
          <a:lstStyle/>
          <a:p>
            <a:r>
              <a:t>Source: Paper, Table 2 and discussion, pp. 14–17. The best neural-network configurations achieve relative MSE values around 0.95. Random forest is slightly above HAR at 1.02; therefore, saying that every ML method consistently beats HAR would be too strong.</a:t>
            </a:r>
          </a:p>
        </p:txBody>
      </p:sp>
      <p:sp>
        <p:nvSpPr>
          <p:cNvPr id="4" name="Slide Number Placeholder 3">
            <a:extLst>
              <a:ext uri="{FF2B5EF4-FFF2-40B4-BE49-F238E27FC236}">
                <a16:creationId xmlns:a16="http://schemas.microsoft.com/office/drawing/2014/main" id="{A9934156-CA76-8485-FA08-C31AA21770F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906634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Cumulative gain over HAR during the test period (Aug 2024 – Sep 2026). A rising line means the model is gaining on HAR.</a:t>
            </a:r>
          </a:p>
          <a:p>
            <a:r>
              <a:t>Until March 2025 all models are only about 1% ahead. In April 2025 the lines jump: about 80% of the random forest's total gain comes from that single month. Why ML wins there: with RV lags only, random forest is no better than HAR in April 2025 (1.00); with implied volatility and VIX it is at 0.79. Forward-looking predictors react on the day of the shock, past RV only afterwards.</a:t>
            </a:r>
          </a:p>
          <a:p>
            <a:r>
              <a:t>MSE on variance is dominated by extreme days: 54% of HAR's squared error falls into April 2025. Excluding it, RF is 0.96 and LogHAR 0.89 relative to HAR.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Heatmap: relative MSE vs HAR, our replication (bold) next to the paper, all predictors.</a:t>
            </a:r>
          </a:p>
          <a:p>
            <a:r>
              <a:t>One day ahead the numbers are remarkably close: random forest 0.87 vs 0.90, elastic net 0.89 vs 0.92, LogHAR 0.85 vs 0.90.</a:t>
            </a:r>
          </a:p>
          <a:p>
            <a:r>
              <a:t>One week: regularized models and the NN ensemble beat HAR clearly (0.78–0.82).</a:t>
            </a:r>
          </a:p>
          <a:p>
            <a:r>
              <a:t>One month: random forest is worse than HAR (1.15) while the paper reports 0.60. Gradient boosting at one week (1.92) is driven by a single stock (Amgen).</a:t>
            </a:r>
          </a:p>
          <a:p>
            <a:r>
              <a:t>Our fix: the same forest trained on log RV, like the LogHAR, and mapped back with a smearing factor from its out-of-bag residuals. One month: 0.84 instead of 1.15, beating HAR for 28 of 30 stocks; one week 0.77 instead of 0.90; one day unchanged (0.87). Likely reason: on levels a few extreme days dominate the leaf averages; logs damp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models, three splits. Baseline: ML beats HAR at 1 day and 1 week.</a:t>
            </a:r>
          </a:p>
          <a:p>
            <a:r>
              <a:t>Black line: a plain 50/50 average of the random forest and LogHAR forecasts, fixed weights, nothing estimated. Random forest cannot forecast above its training range and undershoots in a crisis, LogHAR overshoots; averaged, the errors offset. At 1 day it beats HAR in all three splits (0.85, 0.89, 0.89). At 1 week it ties HAR with COVID in test (1.00). At 1 month with COVID in test every model loses to HAR, the combination included (1.36).</a:t>
            </a:r>
          </a:p>
          <a:p>
            <a:r>
              <a:t>COVID in test: models trained on the calm 2016–2019 period must forecast March 2020. Random forest (1.70) and the NN ensemble (1.40) lose clearly to HAR at 1 day; At 1 month with COVID in test all models lose to HAR (1.1 to 1.9). Excluding the COVID weeks (Feb–May 2020), RF is at 0.95.</a:t>
            </a:r>
          </a:p>
          <a:p>
            <a:r>
              <a:t>Without 2020: the ML edge shrinks (RF 0.96, elastic net 0.93), the plain linear HAR variants improve.</a:t>
            </a:r>
          </a:p>
          <a:p>
            <a:r>
              <a:t>Why the ML edge shrinks without 2020: with 2020 in the estimation window the monthly HAR coefficient turns negative for 73% of stocks (median −0.05, +0.25 without 2020), so COVID weakens the linear benchmark itself.</a:t>
            </a:r>
          </a:p>
          <a:p>
            <a:r>
              <a:t>For this comparison every h-day forecast is clipped to the range of h-day average RV realized up to the forecast day (no look-ahead, same rule for all models incl. HAR, &lt; 0.5% of forecasts); without it LogHAR forecasts explode in March 2020.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Variable importance from accumulated local effects (as in the paper), normalized to 100% per model.</a:t>
            </a:r>
          </a:p>
          <a:p>
            <a:r>
              <a:t>Linear models rely mostly on daily and weekly RV. Random forest and NN give implied volatility and VIX the same weight as daily RV, matching the paper's finding that ML models weigh market expectations more.</a:t>
            </a:r>
          </a:p>
          <a:p>
            <a:r>
              <a:t>Macro variables each contribute 5% or less.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for the paper results and VaR: Sections 6–7, pp. 32–35. The proposed R implementation using highfrequency and MCS transfers the method to the team's own project and comes from the group plan, not directly from the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dot per stock, one day ahead. Grey: only past realized variance as input. Coloured: all predictors. The black bar is our average, the diamond the paper's average.</a:t>
            </a:r>
          </a:p>
          <a:p>
            <a:r>
              <a:t>With RV lags only, the tree models are no better than HAR, exactly as the paper reports: random forest beats HAR for only 13 of 30 stocks.</a:t>
            </a:r>
          </a:p>
          <a:p>
            <a:r>
              <a:t>With all predictors the whole cloud moves left of the dashed line: random forest beats HAR for 28 of 30 stocks, its average falls from 1.01 to 0.87 (paper: 1.02 to 0.90). LogHAR and elastic net beat HAR for 29 of 30.</a:t>
            </a:r>
          </a:p>
          <a:p>
            <a:r>
              <a:t>So the gain is broad across stocks. Gradient boosting has a few extreme stocks with RV lags only (up to 2.3), which is why its averages look worse than its median.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holds: with only RV lags the ML models are roughly as good as HAR.</a:t>
            </a:r>
          </a:p>
          <a:p>
            <a:r>
              <a:t>H2 holds in the baseline split, but most of the gain comes from April 2025, and it reverses when COVID is out-of-sample.</a:t>
            </a:r>
          </a:p>
          <a:p>
            <a:r>
              <a:t>H3 is not confirmed: the paper's large one-month gains for random forest (0.60) do not replicate (1.15); LogHAR and the NN ensemble stay below 1.</a:t>
            </a:r>
          </a:p>
          <a:p>
            <a:r>
              <a:t>Robust takeaway: the log-transformed HAR is the most stable model across horizons and splits in our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6145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pic>
        <p:nvPicPr>
          <p:cNvPr id="900" name="UNILI Logo" descr="Universität Liechtenstein Logo"/>
          <p:cNvPicPr>
            <a:picLocks noChangeAspect="1"/>
          </p:cNvPicPr>
          <p:nvPr userDrawn="1"/>
        </p:nvPicPr>
        <p:blipFill>
          <a:blip r:embed="rId4"/>
          <a:stretch>
            <a:fillRect/>
          </a:stretch>
        </p:blipFill>
        <p:spPr>
          <a:xfrm>
            <a:off x="457200" y="6400800"/>
            <a:ext cx="1651000" cy="255430"/>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3" Type="http://schemas.openxmlformats.org/officeDocument/2006/relationships/image" Target="../media/fig10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fig102.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fig10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fig10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fig10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fig10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fig106.png"/><Relationship Id="rId1"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fig108.png"/><Relationship Id="rId1"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DA312D-7745-4378-998E-5ADA4BD7589E}"/>
              </a:ext>
            </a:extLst>
          </p:cNvPr>
          <p:cNvSpPr>
            <a:spLocks noGrp="1"/>
          </p:cNvSpPr>
          <p:nvPr/>
        </p:nvSpPr>
        <p:spPr>
          <a:xfrm>
            <a:off x="781050" y="742950"/>
            <a:ext cx="4572000" cy="285750"/>
          </a:xfrm>
          <a:prstGeom prst="rect">
            <a:avLst/>
          </a:prstGeom>
          <a:noFill/>
          <a:ln w="0">
            <a:noFill/>
          </a:ln>
        </p:spPr>
        <p:txBody>
          <a:bodyPr anchor="t">
            <a:noAutofit/>
          </a:bodyPr>
          <a:lstStyle/>
          <a:p>
            <a:pPr algn="l">
              <a:defRPr sz="1350" b="1" i="0">
                <a:solidFill>
                  <a:srgbClr val="16A39A"/>
                </a:solidFill>
                <a:latin typeface="Calibri"/>
                <a:ea typeface="Calibri"/>
                <a:cs typeface="Calibri"/>
              </a:defRPr>
            </a:pPr>
            <a:r>
              <a:rPr sz="1350" b="1" i="0">
                <a:solidFill>
                  <a:srgbClr val="5A5A5A"/>
                </a:solidFill>
                <a:latin typeface="Calibri"/>
                <a:ea typeface="Calibri"/>
                <a:cs typeface="Calibri"/>
              </a:rPr>
              <a:t>REPLICATION PROJECT</a:t>
            </a:r>
          </a:p>
        </p:txBody>
      </p:sp>
      <p:sp>
        <p:nvSpPr>
          <p:cNvPr id="3" name="Rectangle 2">
            <a:extLst>
              <a:ext uri="{FF2B5EF4-FFF2-40B4-BE49-F238E27FC236}">
                <a16:creationId xmlns:a16="http://schemas.microsoft.com/office/drawing/2014/main" id="{681FB90C-8704-406C-849A-66733D0CAA3E}"/>
              </a:ext>
            </a:extLst>
          </p:cNvPr>
          <p:cNvSpPr>
            <a:spLocks noGrp="1"/>
          </p:cNvSpPr>
          <p:nvPr/>
        </p:nvSpPr>
        <p:spPr>
          <a:xfrm>
            <a:off x="781050" y="1352550"/>
            <a:ext cx="7810500" cy="1524000"/>
          </a:xfrm>
          <a:prstGeom prst="rect">
            <a:avLst/>
          </a:prstGeom>
          <a:noFill/>
          <a:ln w="0">
            <a:noFill/>
          </a:ln>
        </p:spPr>
        <p:txBody>
          <a:bodyPr anchor="t">
            <a:noAutofit/>
          </a:bodyPr>
          <a:lstStyle/>
          <a:p>
            <a:pPr algn="l">
              <a:defRPr sz="4350" b="1" i="0">
                <a:solidFill>
                  <a:srgbClr val="FFFFFF"/>
                </a:solidFill>
                <a:latin typeface="Calibri"/>
                <a:ea typeface="Calibri"/>
                <a:cs typeface="Calibri"/>
              </a:defRPr>
            </a:pPr>
            <a:r>
              <a:rPr sz="4350" b="1" i="0">
                <a:solidFill>
                  <a:srgbClr val="C82B00"/>
                </a:solidFill>
                <a:latin typeface="Calibri"/>
                <a:ea typeface="Calibri"/>
                <a:cs typeface="Calibri"/>
              </a:rPr>
              <a:t>Machine Learning for</a:t>
            </a:r>
          </a:p>
          <a:p>
            <a:pPr algn="l">
              <a:defRPr sz="4350" b="1" i="0">
                <a:solidFill>
                  <a:srgbClr val="FFFFFF"/>
                </a:solidFill>
                <a:latin typeface="Calibri"/>
                <a:ea typeface="Calibri"/>
                <a:cs typeface="Calibri"/>
              </a:defRPr>
            </a:pPr>
            <a:r>
              <a:rPr sz="4350" b="1" i="0">
                <a:solidFill>
                  <a:srgbClr val="C82B00"/>
                </a:solidFill>
                <a:latin typeface="Calibri"/>
                <a:ea typeface="Calibri"/>
                <a:cs typeface="Calibri"/>
              </a:rPr>
              <a:t>Volatility Forecasting</a:t>
            </a:r>
          </a:p>
        </p:txBody>
      </p:sp>
      <p:sp>
        <p:nvSpPr>
          <p:cNvPr id="4" name="Rectangle 3">
            <a:extLst>
              <a:ext uri="{FF2B5EF4-FFF2-40B4-BE49-F238E27FC236}">
                <a16:creationId xmlns:a16="http://schemas.microsoft.com/office/drawing/2014/main" id="{D38A1E41-D4DE-422C-8695-19FD2AC06651}"/>
              </a:ext>
            </a:extLst>
          </p:cNvPr>
          <p:cNvSpPr>
            <a:spLocks noGrp="1"/>
          </p:cNvSpPr>
          <p:nvPr/>
        </p:nvSpPr>
        <p:spPr>
          <a:xfrm>
            <a:off x="800100" y="3124200"/>
            <a:ext cx="8096250" cy="438150"/>
          </a:xfrm>
          <a:prstGeom prst="rect">
            <a:avLst/>
          </a:prstGeom>
          <a:noFill/>
          <a:ln w="0">
            <a:noFill/>
          </a:ln>
        </p:spPr>
        <p:txBody>
          <a:bodyPr anchor="t">
            <a:noAutofit/>
          </a:bodyPr>
          <a:lstStyle/>
          <a:p>
            <a:pPr algn="l">
              <a:defRPr sz="2025" b="0" i="0">
                <a:solidFill>
                  <a:srgbClr val="DCE4EC"/>
                </a:solidFill>
                <a:latin typeface="Calibri"/>
                <a:ea typeface="Calibri"/>
                <a:cs typeface="Calibri"/>
              </a:defRPr>
            </a:pPr>
            <a:r>
              <a:rPr sz="2025" b="0" i="0">
                <a:solidFill>
                  <a:srgbClr val="000000"/>
                </a:solidFill>
                <a:latin typeface="Calibri"/>
                <a:ea typeface="Calibri"/>
                <a:cs typeface="Calibri"/>
              </a:rPr>
              <a:t>Replication and extension to 2016–2026 with open data</a:t>
            </a:r>
          </a:p>
        </p:txBody>
      </p:sp>
      <p:sp>
        <p:nvSpPr>
          <p:cNvPr id="5" name="Rectangle 4">
            <a:extLst>
              <a:ext uri="{FF2B5EF4-FFF2-40B4-BE49-F238E27FC236}">
                <a16:creationId xmlns:a16="http://schemas.microsoft.com/office/drawing/2014/main" id="{2EEAE8F7-E7B4-451A-B18B-C7F44F73AB15}"/>
              </a:ext>
            </a:extLst>
          </p:cNvPr>
          <p:cNvSpPr>
            <a:spLocks noGrp="1"/>
          </p:cNvSpPr>
          <p:nvPr/>
        </p:nvSpPr>
        <p:spPr>
          <a:xfrm>
            <a:off x="800100" y="3943350"/>
            <a:ext cx="1428750" cy="47625"/>
          </a:xfrm>
          <a:prstGeom prst="rect">
            <a:avLst/>
          </a:prstGeom>
          <a:solidFill>
            <a:srgbClr val="C82B00"/>
          </a:solidFill>
          <a:ln w="0">
            <a:noFill/>
          </a:ln>
        </p:spPr>
        <p:txBody>
          <a:bodyPr/>
          <a:lstStyle/>
          <a:p>
            <a:endParaRPr lang="en-US"/>
          </a:p>
        </p:txBody>
      </p:sp>
      <p:sp>
        <p:nvSpPr>
          <p:cNvPr id="6" name="Rectangle 5">
            <a:extLst>
              <a:ext uri="{FF2B5EF4-FFF2-40B4-BE49-F238E27FC236}">
                <a16:creationId xmlns:a16="http://schemas.microsoft.com/office/drawing/2014/main" id="{F09745AF-A107-41DA-8524-F132DA81CA8A}"/>
              </a:ext>
            </a:extLst>
          </p:cNvPr>
          <p:cNvSpPr>
            <a:spLocks noGrp="1"/>
          </p:cNvSpPr>
          <p:nvPr/>
        </p:nvSpPr>
        <p:spPr>
          <a:xfrm>
            <a:off x="800100" y="4305300"/>
            <a:ext cx="7810500" cy="704850"/>
          </a:xfrm>
          <a:prstGeom prst="rect">
            <a:avLst/>
          </a:prstGeom>
          <a:noFill/>
          <a:ln w="0">
            <a:noFill/>
          </a:ln>
        </p:spPr>
        <p:txBody>
          <a:bodyPr anchor="t">
            <a:noAutofit/>
          </a:bodyPr>
          <a:lstStyle/>
          <a:p>
            <a:pPr algn="l">
              <a:defRPr sz="1650" b="0" i="0">
                <a:solidFill>
                  <a:srgbClr val="FFFFFF"/>
                </a:solidFill>
                <a:latin typeface="Calibri"/>
                <a:ea typeface="Calibri"/>
                <a:cs typeface="Calibri"/>
              </a:defRPr>
            </a:pPr>
            <a:r>
              <a:rPr sz="1650" b="0" i="0">
                <a:solidFill>
                  <a:srgbClr val="5A5A5A"/>
                </a:solidFill>
                <a:latin typeface="Calibri"/>
                <a:ea typeface="Calibri"/>
                <a:cs typeface="Calibri"/>
              </a:rPr>
              <a:t>Christensen, Siggaard &amp; Veliyev</a:t>
            </a:r>
          </a:p>
          <a:p>
            <a:pPr algn="l">
              <a:defRPr sz="1650" b="0" i="0">
                <a:solidFill>
                  <a:srgbClr val="FFFFFF"/>
                </a:solidFill>
                <a:latin typeface="Calibri"/>
                <a:ea typeface="Calibri"/>
                <a:cs typeface="Calibri"/>
              </a:defRPr>
            </a:pPr>
            <a:r>
              <a:rPr sz="1650" b="0" i="0">
                <a:solidFill>
                  <a:srgbClr val="5A5A5A"/>
                </a:solidFill>
                <a:latin typeface="Calibri"/>
                <a:ea typeface="Calibri"/>
                <a:cs typeface="Calibri"/>
              </a:rPr>
              <a:t>A machine learning approach to volatility forecasting</a:t>
            </a:r>
          </a:p>
        </p:txBody>
      </p:sp>
      <p:sp>
        <p:nvSpPr>
          <p:cNvPr id="7" name="Rectangle 6">
            <a:extLst>
              <a:ext uri="{FF2B5EF4-FFF2-40B4-BE49-F238E27FC236}">
                <a16:creationId xmlns:a16="http://schemas.microsoft.com/office/drawing/2014/main" id="{9F7065EE-9D0B-446A-8065-3263B405C362}"/>
              </a:ext>
            </a:extLst>
          </p:cNvPr>
          <p:cNvSpPr>
            <a:spLocks noGrp="1"/>
          </p:cNvSpPr>
          <p:nvPr/>
        </p:nvSpPr>
        <p:spPr>
          <a:xfrm>
            <a:off x="800100" y="5810250"/>
            <a:ext cx="3429000" cy="266700"/>
          </a:xfrm>
          <a:prstGeom prst="rect">
            <a:avLst/>
          </a:prstGeom>
          <a:noFill/>
          <a:ln w="0">
            <a:noFill/>
          </a:ln>
        </p:spPr>
        <p:txBody>
          <a:bodyPr lIns="91440" tIns="45720" rIns="91440" bIns="45720" anchor="t">
            <a:noAutofit/>
          </a:bodyPr>
          <a:lstStyle/>
          <a:p>
            <a:pPr algn="l">
              <a:defRPr sz="1350" b="1" i="0">
                <a:solidFill>
                  <a:srgbClr val="16A39A"/>
                </a:solidFill>
                <a:latin typeface="Calibri"/>
                <a:ea typeface="Calibri"/>
                <a:cs typeface="Calibri"/>
              </a:defRPr>
            </a:pPr>
            <a:endParaRPr lang="en-US" sz="1350"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9BAF5E6B-A184-426C-9D3B-7174C76AF867}"/>
              </a:ext>
            </a:extLst>
          </p:cNvPr>
          <p:cNvSpPr>
            <a:spLocks noGrp="1"/>
          </p:cNvSpPr>
          <p:nvPr/>
        </p:nvSpPr>
        <p:spPr>
          <a:xfrm>
            <a:off x="7962900" y="5810250"/>
            <a:ext cx="3429000" cy="266700"/>
          </a:xfrm>
          <a:prstGeom prst="rect">
            <a:avLst/>
          </a:prstGeom>
          <a:noFill/>
          <a:ln w="0">
            <a:noFill/>
          </a:ln>
        </p:spPr>
        <p:txBody>
          <a:bodyPr lIns="91440" tIns="45720" rIns="91440" bIns="45720" anchor="t">
            <a:noAutofit/>
          </a:bodyPr>
          <a:lstStyle/>
          <a:p>
            <a:pPr algn="r">
              <a:defRPr sz="1350" b="0" i="0">
                <a:solidFill>
                  <a:srgbClr val="DCE4EC"/>
                </a:solidFill>
                <a:latin typeface="Calibri"/>
                <a:ea typeface="Calibri"/>
                <a:cs typeface="Calibri"/>
              </a:defRPr>
            </a:pPr>
            <a:endParaRPr lang="en-US" sz="1350" b="0" i="0">
              <a:solidFill>
                <a:srgbClr val="5A5A5A"/>
              </a:solidFill>
              <a:latin typeface="Calibri"/>
              <a:ea typeface="Calibri"/>
              <a:cs typeface="Calibri"/>
            </a:endParaRPr>
          </a:p>
        </p:txBody>
      </p:sp>
    </p:spTree>
    <p:extLst>
      <p:ext uri="{BB962C8B-B14F-4D97-AF65-F5344CB8AC3E}">
        <p14:creationId xmlns:p14="http://schemas.microsoft.com/office/powerpoint/2010/main" val="3363003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423D25-2C23-4363-9638-F6EFAFD61741}"/>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OVERVIEW</a:t>
            </a:r>
          </a:p>
        </p:txBody>
      </p:sp>
      <p:sp>
        <p:nvSpPr>
          <p:cNvPr id="3" name="Rectangle 2">
            <a:extLst>
              <a:ext uri="{FF2B5EF4-FFF2-40B4-BE49-F238E27FC236}">
                <a16:creationId xmlns:a16="http://schemas.microsoft.com/office/drawing/2014/main" id="{454EA262-2EBC-4C06-9D97-FAEFFD119DD2}"/>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199C197B-A635-4B05-ACE7-23CE66C6503B}"/>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Structure and roles</a:t>
            </a:r>
          </a:p>
        </p:txBody>
      </p:sp>
      <p:sp>
        <p:nvSpPr>
          <p:cNvPr id="6" name="Rectangle 5">
            <a:extLst>
              <a:ext uri="{FF2B5EF4-FFF2-40B4-BE49-F238E27FC236}">
                <a16:creationId xmlns:a16="http://schemas.microsoft.com/office/drawing/2014/main" id="{E1EE47B1-02A3-4627-9F5F-E6C9788DB9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90C1D66C-062C-4338-B19B-3EAF903C2C54}"/>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02</a:t>
            </a:r>
          </a:p>
        </p:txBody>
      </p:sp>
      <p:sp>
        <p:nvSpPr>
          <p:cNvPr id="8" name="Rectangle 7">
            <a:extLst>
              <a:ext uri="{FF2B5EF4-FFF2-40B4-BE49-F238E27FC236}">
                <a16:creationId xmlns:a16="http://schemas.microsoft.com/office/drawing/2014/main" id="{F89B6527-18F9-469F-8629-F2E8079A72C1}"/>
              </a:ext>
            </a:extLst>
          </p:cNvPr>
          <p:cNvSpPr>
            <a:spLocks noGrp="1"/>
          </p:cNvSpPr>
          <p:nvPr/>
        </p:nvSpPr>
        <p:spPr>
          <a:xfrm>
            <a:off x="685800" y="14668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01</a:t>
            </a:r>
          </a:p>
        </p:txBody>
      </p:sp>
      <p:sp>
        <p:nvSpPr>
          <p:cNvPr id="9" name="Rectangle 8">
            <a:extLst>
              <a:ext uri="{FF2B5EF4-FFF2-40B4-BE49-F238E27FC236}">
                <a16:creationId xmlns:a16="http://schemas.microsoft.com/office/drawing/2014/main" id="{D54F6C66-89B6-4B2B-B94A-70D6BAB64B8B}"/>
              </a:ext>
            </a:extLst>
          </p:cNvPr>
          <p:cNvSpPr>
            <a:spLocks noGrp="1"/>
          </p:cNvSpPr>
          <p:nvPr/>
        </p:nvSpPr>
        <p:spPr>
          <a:xfrm>
            <a:off x="1524000" y="14859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Motivation &amp; problem statement</a:t>
            </a:r>
          </a:p>
        </p:txBody>
      </p:sp>
      <p:sp>
        <p:nvSpPr>
          <p:cNvPr id="10" name="Rectangle 9">
            <a:extLst>
              <a:ext uri="{FF2B5EF4-FFF2-40B4-BE49-F238E27FC236}">
                <a16:creationId xmlns:a16="http://schemas.microsoft.com/office/drawing/2014/main" id="{466981B7-1BB9-44B0-922B-37BE593CB73D}"/>
              </a:ext>
            </a:extLst>
          </p:cNvPr>
          <p:cNvSpPr>
            <a:spLocks noGrp="1"/>
          </p:cNvSpPr>
          <p:nvPr/>
        </p:nvSpPr>
        <p:spPr>
          <a:xfrm>
            <a:off x="8020050" y="14954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Niklas</a:t>
            </a:r>
          </a:p>
        </p:txBody>
      </p:sp>
      <p:sp>
        <p:nvSpPr>
          <p:cNvPr id="11" name="Rectangle 10">
            <a:extLst>
              <a:ext uri="{FF2B5EF4-FFF2-40B4-BE49-F238E27FC236}">
                <a16:creationId xmlns:a16="http://schemas.microsoft.com/office/drawing/2014/main" id="{2EC886C2-19E2-41A0-94E7-33692FC19F45}"/>
              </a:ext>
            </a:extLst>
          </p:cNvPr>
          <p:cNvSpPr>
            <a:spLocks noGrp="1"/>
          </p:cNvSpPr>
          <p:nvPr/>
        </p:nvSpPr>
        <p:spPr>
          <a:xfrm>
            <a:off x="9944100" y="149542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3–4</a:t>
            </a:r>
          </a:p>
        </p:txBody>
      </p:sp>
      <p:sp>
        <p:nvSpPr>
          <p:cNvPr id="12" name="Rectangle 11">
            <a:extLst>
              <a:ext uri="{FF2B5EF4-FFF2-40B4-BE49-F238E27FC236}">
                <a16:creationId xmlns:a16="http://schemas.microsoft.com/office/drawing/2014/main" id="{F7A6D3FA-D3FC-4962-B572-EEDBF0FC0525}"/>
              </a:ext>
            </a:extLst>
          </p:cNvPr>
          <p:cNvSpPr>
            <a:spLocks noGrp="1"/>
          </p:cNvSpPr>
          <p:nvPr/>
        </p:nvSpPr>
        <p:spPr>
          <a:xfrm>
            <a:off x="1524000" y="2019300"/>
            <a:ext cx="9753600" cy="19050"/>
          </a:xfrm>
          <a:prstGeom prst="rect">
            <a:avLst/>
          </a:prstGeom>
          <a:solidFill>
            <a:srgbClr val="D9D9D9"/>
          </a:solidFill>
          <a:ln w="0">
            <a:noFill/>
          </a:ln>
        </p:spPr>
        <p:txBody>
          <a:bodyPr/>
          <a:lstStyle/>
          <a:p>
            <a:endParaRPr lang="en-US"/>
          </a:p>
        </p:txBody>
      </p:sp>
      <p:sp>
        <p:nvSpPr>
          <p:cNvPr id="13" name="Rectangle 12">
            <a:extLst>
              <a:ext uri="{FF2B5EF4-FFF2-40B4-BE49-F238E27FC236}">
                <a16:creationId xmlns:a16="http://schemas.microsoft.com/office/drawing/2014/main" id="{82C77669-B425-4607-ADC7-C923D60AFCB7}"/>
              </a:ext>
            </a:extLst>
          </p:cNvPr>
          <p:cNvSpPr>
            <a:spLocks noGrp="1"/>
          </p:cNvSpPr>
          <p:nvPr/>
        </p:nvSpPr>
        <p:spPr>
          <a:xfrm>
            <a:off x="685800" y="228600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02</a:t>
            </a:r>
          </a:p>
        </p:txBody>
      </p:sp>
      <p:sp>
        <p:nvSpPr>
          <p:cNvPr id="14" name="Rectangle 13">
            <a:extLst>
              <a:ext uri="{FF2B5EF4-FFF2-40B4-BE49-F238E27FC236}">
                <a16:creationId xmlns:a16="http://schemas.microsoft.com/office/drawing/2014/main" id="{6545FCA6-839C-491D-A341-F73B35830AE9}"/>
              </a:ext>
            </a:extLst>
          </p:cNvPr>
          <p:cNvSpPr>
            <a:spLocks noGrp="1"/>
          </p:cNvSpPr>
          <p:nvPr/>
        </p:nvSpPr>
        <p:spPr>
          <a:xfrm>
            <a:off x="1524000" y="230505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Research question &amp; hypotheses</a:t>
            </a:r>
          </a:p>
        </p:txBody>
      </p:sp>
      <p:sp>
        <p:nvSpPr>
          <p:cNvPr id="15" name="Rectangle 14">
            <a:extLst>
              <a:ext uri="{FF2B5EF4-FFF2-40B4-BE49-F238E27FC236}">
                <a16:creationId xmlns:a16="http://schemas.microsoft.com/office/drawing/2014/main" id="{99CDC5C6-DCD8-42BE-BA4B-C0821AA06571}"/>
              </a:ext>
            </a:extLst>
          </p:cNvPr>
          <p:cNvSpPr>
            <a:spLocks noGrp="1"/>
          </p:cNvSpPr>
          <p:nvPr/>
        </p:nvSpPr>
        <p:spPr>
          <a:xfrm>
            <a:off x="8020050" y="231457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Adrian</a:t>
            </a:r>
          </a:p>
        </p:txBody>
      </p:sp>
      <p:sp>
        <p:nvSpPr>
          <p:cNvPr id="16" name="Rectangle 15">
            <a:extLst>
              <a:ext uri="{FF2B5EF4-FFF2-40B4-BE49-F238E27FC236}">
                <a16:creationId xmlns:a16="http://schemas.microsoft.com/office/drawing/2014/main" id="{F29E8B8F-EE9F-4C8C-A41F-AA54FA0A6064}"/>
              </a:ext>
            </a:extLst>
          </p:cNvPr>
          <p:cNvSpPr>
            <a:spLocks noGrp="1"/>
          </p:cNvSpPr>
          <p:nvPr/>
        </p:nvSpPr>
        <p:spPr>
          <a:xfrm>
            <a:off x="9944100" y="231457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5–8</a:t>
            </a:r>
          </a:p>
        </p:txBody>
      </p:sp>
      <p:sp>
        <p:nvSpPr>
          <p:cNvPr id="17" name="Rectangle 16">
            <a:extLst>
              <a:ext uri="{FF2B5EF4-FFF2-40B4-BE49-F238E27FC236}">
                <a16:creationId xmlns:a16="http://schemas.microsoft.com/office/drawing/2014/main" id="{D853E80D-A711-4407-8644-E537B5A72DA5}"/>
              </a:ext>
            </a:extLst>
          </p:cNvPr>
          <p:cNvSpPr>
            <a:spLocks noGrp="1"/>
          </p:cNvSpPr>
          <p:nvPr/>
        </p:nvSpPr>
        <p:spPr>
          <a:xfrm>
            <a:off x="1524000" y="2838450"/>
            <a:ext cx="9753600" cy="19050"/>
          </a:xfrm>
          <a:prstGeom prst="rect">
            <a:avLst/>
          </a:prstGeom>
          <a:solidFill>
            <a:srgbClr val="D9D9D9"/>
          </a:solidFill>
          <a:ln w="0">
            <a:noFill/>
          </a:ln>
        </p:spPr>
        <p:txBody>
          <a:bodyPr/>
          <a:lstStyle/>
          <a:p>
            <a:endParaRPr lang="en-US"/>
          </a:p>
        </p:txBody>
      </p:sp>
      <p:sp>
        <p:nvSpPr>
          <p:cNvPr id="18" name="Rectangle 17">
            <a:extLst>
              <a:ext uri="{FF2B5EF4-FFF2-40B4-BE49-F238E27FC236}">
                <a16:creationId xmlns:a16="http://schemas.microsoft.com/office/drawing/2014/main" id="{03FB148F-1D70-499A-BCA7-D23CE9B2DF7D}"/>
              </a:ext>
            </a:extLst>
          </p:cNvPr>
          <p:cNvSpPr>
            <a:spLocks noGrp="1"/>
          </p:cNvSpPr>
          <p:nvPr/>
        </p:nvSpPr>
        <p:spPr>
          <a:xfrm>
            <a:off x="685800" y="31051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03</a:t>
            </a:r>
          </a:p>
        </p:txBody>
      </p:sp>
      <p:sp>
        <p:nvSpPr>
          <p:cNvPr id="19" name="Rectangle 18">
            <a:extLst>
              <a:ext uri="{FF2B5EF4-FFF2-40B4-BE49-F238E27FC236}">
                <a16:creationId xmlns:a16="http://schemas.microsoft.com/office/drawing/2014/main" id="{4B25F00D-8087-4CD3-8B0B-2898C0EBF208}"/>
              </a:ext>
            </a:extLst>
          </p:cNvPr>
          <p:cNvSpPr>
            <a:spLocks noGrp="1"/>
          </p:cNvSpPr>
          <p:nvPr/>
        </p:nvSpPr>
        <p:spPr>
          <a:xfrm>
            <a:off x="1524000" y="31242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Open data &amp; replication design</a:t>
            </a:r>
          </a:p>
        </p:txBody>
      </p:sp>
      <p:sp>
        <p:nvSpPr>
          <p:cNvPr id="20" name="Rectangle 19">
            <a:extLst>
              <a:ext uri="{FF2B5EF4-FFF2-40B4-BE49-F238E27FC236}">
                <a16:creationId xmlns:a16="http://schemas.microsoft.com/office/drawing/2014/main" id="{D6E219F7-5205-40E0-90EA-61F9F700F279}"/>
              </a:ext>
            </a:extLst>
          </p:cNvPr>
          <p:cNvSpPr>
            <a:spLocks noGrp="1"/>
          </p:cNvSpPr>
          <p:nvPr/>
        </p:nvSpPr>
        <p:spPr>
          <a:xfrm>
            <a:off x="8020050" y="31337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Leo</a:t>
            </a:r>
          </a:p>
        </p:txBody>
      </p:sp>
      <p:sp>
        <p:nvSpPr>
          <p:cNvPr id="21" name="Rectangle 20">
            <a:extLst>
              <a:ext uri="{FF2B5EF4-FFF2-40B4-BE49-F238E27FC236}">
                <a16:creationId xmlns:a16="http://schemas.microsoft.com/office/drawing/2014/main" id="{4E5B7F45-F9B7-4B68-ABAC-0CEC484A6B21}"/>
              </a:ext>
            </a:extLst>
          </p:cNvPr>
          <p:cNvSpPr>
            <a:spLocks noGrp="1"/>
          </p:cNvSpPr>
          <p:nvPr/>
        </p:nvSpPr>
        <p:spPr>
          <a:xfrm>
            <a:off x="9944100" y="3154045"/>
            <a:ext cx="1374140" cy="27432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9–11</a:t>
            </a:r>
          </a:p>
        </p:txBody>
      </p:sp>
      <p:sp>
        <p:nvSpPr>
          <p:cNvPr id="22" name="Rectangle 21">
            <a:extLst>
              <a:ext uri="{FF2B5EF4-FFF2-40B4-BE49-F238E27FC236}">
                <a16:creationId xmlns:a16="http://schemas.microsoft.com/office/drawing/2014/main" id="{8C1ACF7B-3FB6-443C-A172-D8FA38E255FE}"/>
              </a:ext>
            </a:extLst>
          </p:cNvPr>
          <p:cNvSpPr>
            <a:spLocks noGrp="1"/>
          </p:cNvSpPr>
          <p:nvPr/>
        </p:nvSpPr>
        <p:spPr>
          <a:xfrm>
            <a:off x="1524000" y="3657600"/>
            <a:ext cx="9753600" cy="19050"/>
          </a:xfrm>
          <a:prstGeom prst="rect">
            <a:avLst/>
          </a:prstGeom>
          <a:solidFill>
            <a:srgbClr val="D9D9D9"/>
          </a:solidFill>
          <a:ln w="0">
            <a:noFill/>
          </a:ln>
        </p:spPr>
        <p:txBody>
          <a:bodyPr/>
          <a:lstStyle/>
          <a:p>
            <a:endParaRPr lang="en-US"/>
          </a:p>
        </p:txBody>
      </p:sp>
      <p:sp>
        <p:nvSpPr>
          <p:cNvPr id="23" name="Rectangle 22">
            <a:extLst>
              <a:ext uri="{FF2B5EF4-FFF2-40B4-BE49-F238E27FC236}">
                <a16:creationId xmlns:a16="http://schemas.microsoft.com/office/drawing/2014/main" id="{54F46D95-C77C-4EC0-A4C6-41FA31712B3D}"/>
              </a:ext>
            </a:extLst>
          </p:cNvPr>
          <p:cNvSpPr>
            <a:spLocks noGrp="1"/>
          </p:cNvSpPr>
          <p:nvPr/>
        </p:nvSpPr>
        <p:spPr>
          <a:xfrm>
            <a:off x="685800" y="3924300"/>
            <a:ext cx="685800" cy="514350"/>
          </a:xfrm>
          <a:prstGeom prst="rect">
            <a:avLst/>
          </a:prstGeom>
          <a:noFill/>
          <a:ln w="0">
            <a:noFill/>
          </a:ln>
        </p:spPr>
        <p:txBody>
          <a:bodyPr lIns="91440" tIns="45720" rIns="91440" bIns="45720" anchor="t">
            <a:noAutofit/>
          </a:bodyPr>
          <a:lstStyle/>
          <a:p>
            <a:pPr>
              <a:defRPr sz="2325" b="1" i="0">
                <a:solidFill>
                  <a:srgbClr val="C82B00"/>
                </a:solidFill>
                <a:latin typeface="Calibri"/>
                <a:ea typeface="Calibri"/>
                <a:cs typeface="Calibri"/>
              </a:defRPr>
            </a:pPr>
            <a:r>
              <a:rPr sz="2325" b="1">
                <a:solidFill>
                  <a:srgbClr val="C82B00"/>
                </a:solidFill>
                <a:latin typeface="Calibri"/>
              </a:rPr>
              <a:t>04</a:t>
            </a:r>
          </a:p>
        </p:txBody>
      </p:sp>
      <p:sp>
        <p:nvSpPr>
          <p:cNvPr id="24" name="Rectangle 23">
            <a:extLst>
              <a:ext uri="{FF2B5EF4-FFF2-40B4-BE49-F238E27FC236}">
                <a16:creationId xmlns:a16="http://schemas.microsoft.com/office/drawing/2014/main" id="{5500239C-A259-434C-B926-F387442FA0B0}"/>
              </a:ext>
            </a:extLst>
          </p:cNvPr>
          <p:cNvSpPr>
            <a:spLocks noGrp="1"/>
          </p:cNvSpPr>
          <p:nvPr/>
        </p:nvSpPr>
        <p:spPr>
          <a:xfrm>
            <a:off x="1524000" y="394335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Results: paper vs. replication</a:t>
            </a:r>
          </a:p>
        </p:txBody>
      </p:sp>
      <p:sp>
        <p:nvSpPr>
          <p:cNvPr id="25" name="Rectangle 24">
            <a:extLst>
              <a:ext uri="{FF2B5EF4-FFF2-40B4-BE49-F238E27FC236}">
                <a16:creationId xmlns:a16="http://schemas.microsoft.com/office/drawing/2014/main" id="{FF0E1E26-42C5-42BA-9701-C8F1087821FA}"/>
              </a:ext>
            </a:extLst>
          </p:cNvPr>
          <p:cNvSpPr>
            <a:spLocks noGrp="1"/>
          </p:cNvSpPr>
          <p:nvPr/>
        </p:nvSpPr>
        <p:spPr>
          <a:xfrm>
            <a:off x="8020050" y="395287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Lukas</a:t>
            </a:r>
          </a:p>
        </p:txBody>
      </p:sp>
      <p:sp>
        <p:nvSpPr>
          <p:cNvPr id="26" name="Rectangle 25">
            <a:extLst>
              <a:ext uri="{FF2B5EF4-FFF2-40B4-BE49-F238E27FC236}">
                <a16:creationId xmlns:a16="http://schemas.microsoft.com/office/drawing/2014/main" id="{0BCF0032-7522-4DF4-B84F-00F1C5F3E898}"/>
              </a:ext>
            </a:extLst>
          </p:cNvPr>
          <p:cNvSpPr>
            <a:spLocks noGrp="1"/>
          </p:cNvSpPr>
          <p:nvPr/>
        </p:nvSpPr>
        <p:spPr>
          <a:xfrm>
            <a:off x="9944100" y="395287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12–15</a:t>
            </a:r>
          </a:p>
        </p:txBody>
      </p:sp>
      <p:sp>
        <p:nvSpPr>
          <p:cNvPr id="27" name="Rectangle 26">
            <a:extLst>
              <a:ext uri="{FF2B5EF4-FFF2-40B4-BE49-F238E27FC236}">
                <a16:creationId xmlns:a16="http://schemas.microsoft.com/office/drawing/2014/main" id="{88443DED-18F5-4563-ACFA-D39DF931152F}"/>
              </a:ext>
            </a:extLst>
          </p:cNvPr>
          <p:cNvSpPr>
            <a:spLocks noGrp="1"/>
          </p:cNvSpPr>
          <p:nvPr/>
        </p:nvSpPr>
        <p:spPr>
          <a:xfrm>
            <a:off x="1524000" y="4476750"/>
            <a:ext cx="9753600" cy="19050"/>
          </a:xfrm>
          <a:prstGeom prst="rect">
            <a:avLst/>
          </a:prstGeom>
          <a:solidFill>
            <a:srgbClr val="D9D9D9"/>
          </a:solidFill>
          <a:ln w="0">
            <a:noFill/>
          </a:ln>
        </p:spPr>
        <p:txBody>
          <a:bodyPr/>
          <a:lstStyle/>
          <a:p>
            <a:endParaRPr lang="en-US"/>
          </a:p>
        </p:txBody>
      </p:sp>
      <p:sp>
        <p:nvSpPr>
          <p:cNvPr id="28" name="Rectangle 27">
            <a:extLst>
              <a:ext uri="{FF2B5EF4-FFF2-40B4-BE49-F238E27FC236}">
                <a16:creationId xmlns:a16="http://schemas.microsoft.com/office/drawing/2014/main" id="{9EA1D2A6-7605-4FB0-B66F-2948E0DDA870}"/>
              </a:ext>
            </a:extLst>
          </p:cNvPr>
          <p:cNvSpPr>
            <a:spLocks noGrp="1"/>
          </p:cNvSpPr>
          <p:nvPr/>
        </p:nvSpPr>
        <p:spPr>
          <a:xfrm>
            <a:off x="685800" y="4743450"/>
            <a:ext cx="685800" cy="514350"/>
          </a:xfrm>
          <a:prstGeom prst="rect">
            <a:avLst/>
          </a:prstGeom>
          <a:noFill/>
          <a:ln w="0">
            <a:noFill/>
          </a:ln>
        </p:spPr>
        <p:txBody>
          <a:bodyPr anchor="t">
            <a:noAutofit/>
          </a:bodyPr>
          <a:lstStyle/>
          <a:p>
            <a:pPr algn="l">
              <a:defRPr sz="2325" b="1" i="0">
                <a:solidFill>
                  <a:srgbClr val="C82B00"/>
                </a:solidFill>
                <a:latin typeface="Calibri"/>
                <a:ea typeface="Calibri"/>
                <a:cs typeface="Calibri"/>
              </a:defRPr>
            </a:pPr>
            <a:r>
              <a:rPr sz="2325" b="1" i="0">
                <a:solidFill>
                  <a:srgbClr val="C82B00"/>
                </a:solidFill>
                <a:latin typeface="Calibri"/>
                <a:ea typeface="Calibri"/>
                <a:cs typeface="Calibri"/>
              </a:rPr>
              <a:t>05</a:t>
            </a:r>
          </a:p>
        </p:txBody>
      </p:sp>
      <p:sp>
        <p:nvSpPr>
          <p:cNvPr id="29" name="Rectangle 28">
            <a:extLst>
              <a:ext uri="{FF2B5EF4-FFF2-40B4-BE49-F238E27FC236}">
                <a16:creationId xmlns:a16="http://schemas.microsoft.com/office/drawing/2014/main" id="{3478C21B-FA4E-4618-AA81-D70EEEFCADB7}"/>
              </a:ext>
            </a:extLst>
          </p:cNvPr>
          <p:cNvSpPr>
            <a:spLocks noGrp="1"/>
          </p:cNvSpPr>
          <p:nvPr/>
        </p:nvSpPr>
        <p:spPr>
          <a:xfrm>
            <a:off x="1524000" y="4762500"/>
            <a:ext cx="6191250" cy="342900"/>
          </a:xfrm>
          <a:prstGeom prst="rect">
            <a:avLst/>
          </a:prstGeom>
          <a:noFill/>
          <a:ln w="0">
            <a:noFill/>
          </a:ln>
        </p:spPr>
        <p:txBody>
          <a:bodyPr anchor="t">
            <a:noAutofit/>
          </a:bodyPr>
          <a:lstStyle/>
          <a:p>
            <a:pPr algn="l">
              <a:defRPr sz="2025" b="1" i="0">
                <a:solidFill>
                  <a:srgbClr val="000000"/>
                </a:solidFill>
                <a:latin typeface="Calibri"/>
                <a:ea typeface="Calibri"/>
                <a:cs typeface="Calibri"/>
              </a:defRPr>
            </a:pPr>
            <a:r>
              <a:rPr sz="2025" b="1" i="0">
                <a:solidFill>
                  <a:srgbClr val="000000"/>
                </a:solidFill>
                <a:latin typeface="Calibri"/>
                <a:ea typeface="Calibri"/>
                <a:cs typeface="Calibri"/>
              </a:rPr>
              <a:t>Drivers, verdict &amp; conclusion</a:t>
            </a:r>
          </a:p>
        </p:txBody>
      </p:sp>
      <p:sp>
        <p:nvSpPr>
          <p:cNvPr id="30" name="Rectangle 29">
            <a:extLst>
              <a:ext uri="{FF2B5EF4-FFF2-40B4-BE49-F238E27FC236}">
                <a16:creationId xmlns:a16="http://schemas.microsoft.com/office/drawing/2014/main" id="{19C37095-5422-4177-BA48-F956F34C2F7B}"/>
              </a:ext>
            </a:extLst>
          </p:cNvPr>
          <p:cNvSpPr>
            <a:spLocks noGrp="1"/>
          </p:cNvSpPr>
          <p:nvPr/>
        </p:nvSpPr>
        <p:spPr>
          <a:xfrm>
            <a:off x="8020050" y="4772025"/>
            <a:ext cx="1714500" cy="304800"/>
          </a:xfrm>
          <a:prstGeom prst="rect">
            <a:avLst/>
          </a:prstGeom>
          <a:noFill/>
          <a:ln w="0">
            <a:noFill/>
          </a:ln>
        </p:spPr>
        <p:txBody>
          <a:bodyPr lIns="91440" tIns="45720" rIns="91440" bIns="45720" anchor="t">
            <a:noAutofit/>
          </a:bodyPr>
          <a:lstStyle/>
          <a:p>
            <a:pPr algn="l">
              <a:defRPr sz="1725" b="1" i="0">
                <a:solidFill>
                  <a:srgbClr val="C82B00"/>
                </a:solidFill>
                <a:latin typeface="Calibri"/>
                <a:ea typeface="Calibri"/>
                <a:cs typeface="Calibri"/>
              </a:defRPr>
            </a:pPr>
            <a:r>
              <a:rPr lang="en-US" sz="1700" b="1" i="0">
                <a:solidFill>
                  <a:srgbClr val="C82B00"/>
                </a:solidFill>
                <a:latin typeface="Calibri"/>
                <a:ea typeface="Calibri"/>
                <a:cs typeface="Calibri"/>
              </a:rPr>
              <a:t>Aleks</a:t>
            </a:r>
          </a:p>
        </p:txBody>
      </p:sp>
      <p:sp>
        <p:nvSpPr>
          <p:cNvPr id="31" name="Rectangle 30">
            <a:extLst>
              <a:ext uri="{FF2B5EF4-FFF2-40B4-BE49-F238E27FC236}">
                <a16:creationId xmlns:a16="http://schemas.microsoft.com/office/drawing/2014/main" id="{51AFE913-14EB-4548-9A9F-A1AEF9BDC54C}"/>
              </a:ext>
            </a:extLst>
          </p:cNvPr>
          <p:cNvSpPr>
            <a:spLocks noGrp="1"/>
          </p:cNvSpPr>
          <p:nvPr/>
        </p:nvSpPr>
        <p:spPr>
          <a:xfrm>
            <a:off x="9944100" y="4772025"/>
            <a:ext cx="1333500" cy="304800"/>
          </a:xfrm>
          <a:prstGeom prst="rect">
            <a:avLst/>
          </a:prstGeom>
          <a:noFill/>
          <a:ln w="0">
            <a:noFill/>
          </a:ln>
        </p:spPr>
        <p:txBody>
          <a:bodyPr lIns="91440" tIns="45720" rIns="91440" bIns="45720" anchor="t">
            <a:noAutofit/>
          </a:bodyPr>
          <a:lstStyle/>
          <a:p>
            <a:pPr algn="r">
              <a:defRPr sz="1575" b="0" i="0">
                <a:solidFill>
                  <a:srgbClr val="5A5A5A"/>
                </a:solidFill>
                <a:latin typeface="Calibri"/>
                <a:ea typeface="Calibri"/>
                <a:cs typeface="Calibri"/>
              </a:defRPr>
            </a:pPr>
            <a:r>
              <a:rPr lang="en-US" sz="1550" b="0" i="0">
                <a:solidFill>
                  <a:srgbClr val="5A5A5A"/>
                </a:solidFill>
                <a:latin typeface="Calibri"/>
                <a:ea typeface="Calibri"/>
                <a:cs typeface="Calibri"/>
              </a:rPr>
              <a:t>Slides 16–18</a:t>
            </a:r>
          </a:p>
        </p:txBody>
      </p:sp>
      <p:sp>
        <p:nvSpPr>
          <p:cNvPr id="32" name="Rectangle 31">
            <a:extLst>
              <a:ext uri="{FF2B5EF4-FFF2-40B4-BE49-F238E27FC236}">
                <a16:creationId xmlns:a16="http://schemas.microsoft.com/office/drawing/2014/main" id="{120A14B1-AD24-438E-B23B-083CFC96D95A}"/>
              </a:ext>
            </a:extLst>
          </p:cNvPr>
          <p:cNvSpPr>
            <a:spLocks noGrp="1"/>
          </p:cNvSpPr>
          <p:nvPr/>
        </p:nvSpPr>
        <p:spPr>
          <a:xfrm>
            <a:off x="1524000" y="5295900"/>
            <a:ext cx="9753600" cy="19050"/>
          </a:xfrm>
          <a:prstGeom prst="rect">
            <a:avLst/>
          </a:prstGeom>
          <a:solidFill>
            <a:srgbClr val="D9D9D9"/>
          </a:solidFill>
          <a:ln w="0">
            <a:noFill/>
          </a:ln>
        </p:spPr>
        <p:txBody>
          <a:bodyPr/>
          <a:lstStyle/>
          <a:p>
            <a:endParaRPr lang="en-US"/>
          </a:p>
        </p:txBody>
      </p:sp>
    </p:spTree>
    <p:extLst>
      <p:ext uri="{BB962C8B-B14F-4D97-AF65-F5344CB8AC3E}">
        <p14:creationId xmlns:p14="http://schemas.microsoft.com/office/powerpoint/2010/main" val="1956128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0633C0-E50D-4D65-9679-3C1E579EA645}"/>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1 / MOTIVATION</a:t>
            </a:r>
          </a:p>
        </p:txBody>
      </p:sp>
      <p:sp>
        <p:nvSpPr>
          <p:cNvPr id="3" name="Rectangle 2">
            <a:extLst>
              <a:ext uri="{FF2B5EF4-FFF2-40B4-BE49-F238E27FC236}">
                <a16:creationId xmlns:a16="http://schemas.microsoft.com/office/drawing/2014/main" id="{C2746B6B-AC72-4BDA-814F-3D1C88052AF6}"/>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B5BA7A6F-BD54-4430-9B95-79A42C2F223C}"/>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Why forecast volatility?</a:t>
            </a:r>
          </a:p>
        </p:txBody>
      </p:sp>
      <p:sp>
        <p:nvSpPr>
          <p:cNvPr id="6" name="Rectangle 5">
            <a:extLst>
              <a:ext uri="{FF2B5EF4-FFF2-40B4-BE49-F238E27FC236}">
                <a16:creationId xmlns:a16="http://schemas.microsoft.com/office/drawing/2014/main" id="{CE53707D-1B56-4784-ACC6-2FF97C1B1D67}"/>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3AEE758-DB94-4AC5-9C7F-ADEF4F6B6967}"/>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03</a:t>
            </a:r>
          </a:p>
        </p:txBody>
      </p:sp>
      <p:sp>
        <p:nvSpPr>
          <p:cNvPr id="8" name="Rectangle 7">
            <a:extLst>
              <a:ext uri="{FF2B5EF4-FFF2-40B4-BE49-F238E27FC236}">
                <a16:creationId xmlns:a16="http://schemas.microsoft.com/office/drawing/2014/main" id="{9698C36F-92F1-4D45-87BB-5638D6A740E5}"/>
              </a:ext>
            </a:extLst>
          </p:cNvPr>
          <p:cNvSpPr>
            <a:spLocks noGrp="1"/>
          </p:cNvSpPr>
          <p:nvPr/>
        </p:nvSpPr>
        <p:spPr>
          <a:xfrm>
            <a:off x="628650" y="1428750"/>
            <a:ext cx="10572750" cy="361950"/>
          </a:xfrm>
          <a:prstGeom prst="rect">
            <a:avLst/>
          </a:prstGeom>
          <a:noFill/>
          <a:ln w="0">
            <a:noFill/>
          </a:ln>
        </p:spPr>
        <p:txBody>
          <a:bodyPr anchor="t">
            <a:noAutofit/>
          </a:bodyPr>
          <a:lstStyle/>
          <a:p>
            <a:pPr algn="l">
              <a:defRPr sz="2100" b="1" i="0">
                <a:solidFill>
                  <a:srgbClr val="C82B00"/>
                </a:solidFill>
                <a:latin typeface="Calibri"/>
                <a:ea typeface="Calibri"/>
                <a:cs typeface="Calibri"/>
              </a:defRPr>
            </a:pPr>
            <a:r>
              <a:rPr sz="2100" b="1" i="0">
                <a:solidFill>
                  <a:srgbClr val="C82B00"/>
                </a:solidFill>
                <a:latin typeface="Calibri"/>
                <a:ea typeface="Calibri"/>
                <a:cs typeface="Calibri"/>
              </a:rPr>
              <a:t>Volatility forecasts shape key financial decisions</a:t>
            </a:r>
          </a:p>
        </p:txBody>
      </p:sp>
      <p:sp>
        <p:nvSpPr>
          <p:cNvPr id="9" name="Rectangle 8">
            <a:extLst>
              <a:ext uri="{FF2B5EF4-FFF2-40B4-BE49-F238E27FC236}">
                <a16:creationId xmlns:a16="http://schemas.microsoft.com/office/drawing/2014/main" id="{C987DF5E-9971-4D88-BABC-A7EAAF3A3A0B}"/>
              </a:ext>
            </a:extLst>
          </p:cNvPr>
          <p:cNvSpPr>
            <a:spLocks noGrp="1"/>
          </p:cNvSpPr>
          <p:nvPr/>
        </p:nvSpPr>
        <p:spPr>
          <a:xfrm>
            <a:off x="800100" y="2038350"/>
            <a:ext cx="10287000" cy="2724150"/>
          </a:xfrm>
          <a:prstGeom prst="rect">
            <a:avLst/>
          </a:prstGeom>
          <a:noFill/>
          <a:ln w="0">
            <a:noFill/>
          </a:ln>
        </p:spPr>
        <p:txBody>
          <a:bodyPr>
            <a:noAutofit/>
          </a:bodyPr>
          <a:lstStyle/>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Risk management: estimate future loss distributions and risk limits</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Option pricing: expected price fluctuations determine option values</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Portfolio construction: guide risk allocation and hedging</a:t>
            </a:r>
          </a:p>
          <a:p>
            <a:pPr marL="228600" indent="-114300">
              <a:spcAft>
                <a:spcPts val="1300"/>
              </a:spcAft>
              <a:buChar char="•"/>
              <a:defRPr sz="2025">
                <a:solidFill>
                  <a:srgbClr val="000000"/>
                </a:solidFill>
                <a:latin typeface="Calibri"/>
                <a:ea typeface="Calibri"/>
                <a:cs typeface="Calibri"/>
              </a:defRPr>
            </a:pPr>
            <a:r>
              <a:rPr sz="2025">
                <a:solidFill>
                  <a:srgbClr val="000000"/>
                </a:solidFill>
                <a:latin typeface="Calibri"/>
                <a:ea typeface="Calibri"/>
                <a:cs typeface="Calibri"/>
              </a:rPr>
              <a:t>Structured products: payoffs and hedging depend directly on volatility</a:t>
            </a:r>
          </a:p>
        </p:txBody>
      </p:sp>
      <p:sp>
        <p:nvSpPr>
          <p:cNvPr id="10" name="Rectangle 9">
            <a:extLst>
              <a:ext uri="{FF2B5EF4-FFF2-40B4-BE49-F238E27FC236}">
                <a16:creationId xmlns:a16="http://schemas.microsoft.com/office/drawing/2014/main" id="{5B1314C9-C52A-41E1-B773-1C23C25E2D43}"/>
              </a:ext>
            </a:extLst>
          </p:cNvPr>
          <p:cNvSpPr>
            <a:spLocks noGrp="1"/>
          </p:cNvSpPr>
          <p:nvPr/>
        </p:nvSpPr>
        <p:spPr>
          <a:xfrm>
            <a:off x="627380" y="4157345"/>
            <a:ext cx="1809750" cy="285750"/>
          </a:xfrm>
          <a:prstGeom prst="rect">
            <a:avLst/>
          </a:prstGeom>
          <a:noFill/>
          <a:ln w="0">
            <a:noFill/>
          </a:ln>
        </p:spPr>
        <p:txBody>
          <a:bodyPr anchor="t">
            <a:noAutofit/>
          </a:bodyPr>
          <a:lstStyle/>
          <a:p>
            <a:pPr algn="l">
              <a:defRPr sz="1350" b="1" i="0">
                <a:solidFill>
                  <a:srgbClr val="C82B00"/>
                </a:solidFill>
                <a:latin typeface="Calibri"/>
                <a:ea typeface="Calibri"/>
                <a:cs typeface="Calibri"/>
              </a:defRPr>
            </a:pPr>
            <a:r>
              <a:rPr sz="1350" b="1" i="0">
                <a:solidFill>
                  <a:srgbClr val="C82B00"/>
                </a:solidFill>
                <a:latin typeface="Calibri"/>
                <a:ea typeface="Calibri"/>
                <a:cs typeface="Calibri"/>
              </a:rPr>
              <a:t>Core problem</a:t>
            </a:r>
          </a:p>
        </p:txBody>
      </p:sp>
      <p:sp>
        <p:nvSpPr>
          <p:cNvPr id="11" name="Rectangle 10">
            <a:extLst>
              <a:ext uri="{FF2B5EF4-FFF2-40B4-BE49-F238E27FC236}">
                <a16:creationId xmlns:a16="http://schemas.microsoft.com/office/drawing/2014/main" id="{70883363-DB90-450A-B67D-497B53A2DEC6}"/>
              </a:ext>
            </a:extLst>
          </p:cNvPr>
          <p:cNvSpPr>
            <a:spLocks noGrp="1"/>
          </p:cNvSpPr>
          <p:nvPr/>
        </p:nvSpPr>
        <p:spPr>
          <a:xfrm>
            <a:off x="627380" y="4443095"/>
            <a:ext cx="10191750" cy="457200"/>
          </a:xfrm>
          <a:prstGeom prst="rect">
            <a:avLst/>
          </a:prstGeom>
          <a:noFill/>
          <a:ln w="0">
            <a:noFill/>
          </a:ln>
        </p:spPr>
        <p:txBody>
          <a:bodyPr anchor="t">
            <a:noAutofit/>
          </a:bodyPr>
          <a:lstStyle/>
          <a:p>
            <a:pPr algn="l">
              <a:defRPr sz="1875" b="1" i="0">
                <a:solidFill>
                  <a:srgbClr val="000000"/>
                </a:solidFill>
                <a:latin typeface="Calibri"/>
                <a:ea typeface="Calibri"/>
                <a:cs typeface="Calibri"/>
              </a:defRPr>
            </a:pPr>
            <a:r>
              <a:rPr lang="en-US" sz="2025">
                <a:solidFill>
                  <a:srgbClr val="000000"/>
                </a:solidFill>
                <a:latin typeface="Calibri"/>
              </a:rPr>
              <a:t>Volatility is predictable, but market dynamics are nonlinear and have a low signal-to-noise ratio.</a:t>
            </a:r>
          </a:p>
        </p:txBody>
      </p:sp>
      <p:sp>
        <p:nvSpPr>
          <p:cNvPr id="15" name="TextBox 14">
            <a:extLst>
              <a:ext uri="{FF2B5EF4-FFF2-40B4-BE49-F238E27FC236}">
                <a16:creationId xmlns:a16="http://schemas.microsoft.com/office/drawing/2014/main" id="{88A04DAC-9B44-57DE-388B-F1335D450E3B}"/>
              </a:ext>
            </a:extLst>
          </p:cNvPr>
          <p:cNvSpPr txBox="1"/>
          <p:nvPr/>
        </p:nvSpPr>
        <p:spPr>
          <a:xfrm>
            <a:off x="658091" y="5143500"/>
            <a:ext cx="9594272" cy="9925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C82B00"/>
                </a:solidFill>
                <a:latin typeface="Calibri"/>
              </a:rPr>
              <a:t>Example - Lehman</a:t>
            </a:r>
            <a:r>
              <a:rPr lang="en-US"/>
              <a:t> </a:t>
            </a:r>
            <a:r>
              <a:rPr lang="en-US" b="1">
                <a:solidFill>
                  <a:srgbClr val="C82B00"/>
                </a:solidFill>
                <a:latin typeface="Calibri"/>
              </a:rPr>
              <a:t>Brothers- September 15, 2008</a:t>
            </a:r>
          </a:p>
          <a:p>
            <a:r>
              <a:rPr lang="en-US" sz="2025">
                <a:solidFill>
                  <a:srgbClr val="000000"/>
                </a:solidFill>
                <a:latin typeface="Calibri"/>
              </a:rPr>
              <a:t>The largest bankruptcy in US history – volatility stayed </a:t>
            </a:r>
            <a:r>
              <a:rPr lang="en-US" sz="2025" err="1">
                <a:solidFill>
                  <a:srgbClr val="000000"/>
                </a:solidFill>
                <a:latin typeface="Calibri"/>
              </a:rPr>
              <a:t>extrem</a:t>
            </a:r>
            <a:r>
              <a:rPr lang="en-US" sz="2025">
                <a:solidFill>
                  <a:srgbClr val="000000"/>
                </a:solidFill>
                <a:latin typeface="Calibri"/>
              </a:rPr>
              <a:t> for months.</a:t>
            </a:r>
          </a:p>
        </p:txBody>
      </p:sp>
    </p:spTree>
    <p:extLst>
      <p:ext uri="{BB962C8B-B14F-4D97-AF65-F5344CB8AC3E}">
        <p14:creationId xmlns:p14="http://schemas.microsoft.com/office/powerpoint/2010/main" val="3594804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9297AA-B1BE-43C0-8D13-9D6E249CA51C}"/>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1 / PROBLEM STATEMENT</a:t>
            </a:r>
          </a:p>
        </p:txBody>
      </p:sp>
      <p:sp>
        <p:nvSpPr>
          <p:cNvPr id="3" name="Rectangle 2">
            <a:extLst>
              <a:ext uri="{FF2B5EF4-FFF2-40B4-BE49-F238E27FC236}">
                <a16:creationId xmlns:a16="http://schemas.microsoft.com/office/drawing/2014/main" id="{2F0A3CB1-A59B-442F-9FAE-C10FA35CA7BF}"/>
              </a:ext>
            </a:extLst>
          </p:cNvPr>
          <p:cNvSpPr>
            <a:spLocks noGrp="1"/>
          </p:cNvSpPr>
          <p:nvPr/>
        </p:nvSpPr>
        <p:spPr>
          <a:xfrm>
            <a:off x="9239250" y="266700"/>
            <a:ext cx="2343150" cy="266700"/>
          </a:xfrm>
          <a:prstGeom prst="rect">
            <a:avLst/>
          </a:prstGeom>
          <a:noFill/>
          <a:ln w="0">
            <a:noFill/>
          </a:ln>
        </p:spPr>
        <p:txBody>
          <a:bodyPr lIns="91440" tIns="45720" rIns="91440" bIns="45720" anchor="t">
            <a:noAutofit/>
          </a:bodyPr>
          <a:lstStyle/>
          <a:p>
            <a:pPr algn="r">
              <a:defRPr sz="1200" b="1" i="0">
                <a:solidFill>
                  <a:srgbClr val="5A5A5A"/>
                </a:solidFill>
                <a:latin typeface="Calibri"/>
                <a:ea typeface="Calibri"/>
                <a:cs typeface="Calibri"/>
              </a:defRPr>
            </a:pPr>
            <a:endParaRPr lang="en-US" sz="1200" b="1" i="0">
              <a:solidFill>
                <a:srgbClr val="5A5A5A"/>
              </a:solidFill>
              <a:latin typeface="Calibri"/>
              <a:ea typeface="Calibri"/>
              <a:cs typeface="Calibri"/>
            </a:endParaRPr>
          </a:p>
        </p:txBody>
      </p:sp>
      <p:sp>
        <p:nvSpPr>
          <p:cNvPr id="4" name="Rectangle 3">
            <a:extLst>
              <a:ext uri="{FF2B5EF4-FFF2-40B4-BE49-F238E27FC236}">
                <a16:creationId xmlns:a16="http://schemas.microsoft.com/office/drawing/2014/main" id="{17D0051E-CBC7-4026-9E56-91281B0369C9}"/>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HAR as a robust benchmark</a:t>
            </a:r>
          </a:p>
        </p:txBody>
      </p:sp>
      <p:sp>
        <p:nvSpPr>
          <p:cNvPr id="6" name="Rectangle 5">
            <a:extLst>
              <a:ext uri="{FF2B5EF4-FFF2-40B4-BE49-F238E27FC236}">
                <a16:creationId xmlns:a16="http://schemas.microsoft.com/office/drawing/2014/main" id="{F1D82E0C-B62F-42A1-AF91-8D3A786928B0}"/>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9FA9775-C5A6-4213-92B1-3FDB7145D85A}"/>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04</a:t>
            </a:r>
          </a:p>
        </p:txBody>
      </p:sp>
      <p:sp>
        <p:nvSpPr>
          <p:cNvPr id="8" name="Rectangle 7">
            <a:extLst>
              <a:ext uri="{FF2B5EF4-FFF2-40B4-BE49-F238E27FC236}">
                <a16:creationId xmlns:a16="http://schemas.microsoft.com/office/drawing/2014/main" id="{FFC38178-E96B-46F5-B630-12D9F50C2FC2}"/>
              </a:ext>
            </a:extLst>
          </p:cNvPr>
          <p:cNvSpPr>
            <a:spLocks noGrp="1"/>
          </p:cNvSpPr>
          <p:nvPr/>
        </p:nvSpPr>
        <p:spPr>
          <a:xfrm>
            <a:off x="666750" y="1504950"/>
            <a:ext cx="4000500" cy="400050"/>
          </a:xfrm>
          <a:prstGeom prst="rect">
            <a:avLst/>
          </a:prstGeom>
          <a:noFill/>
          <a:ln w="0">
            <a:noFill/>
          </a:ln>
        </p:spPr>
        <p:txBody>
          <a:bodyPr anchor="t">
            <a:noAutofit/>
          </a:bodyPr>
          <a:lstStyle/>
          <a:p>
            <a:pPr algn="l">
              <a:defRPr sz="2250" b="1" i="0">
                <a:solidFill>
                  <a:srgbClr val="000000"/>
                </a:solidFill>
                <a:latin typeface="Calibri"/>
                <a:ea typeface="Calibri"/>
                <a:cs typeface="Calibri"/>
              </a:defRPr>
            </a:pPr>
            <a:r>
              <a:rPr sz="2250" b="1" i="0">
                <a:solidFill>
                  <a:srgbClr val="000000"/>
                </a:solidFill>
                <a:latin typeface="Calibri"/>
                <a:ea typeface="Calibri"/>
                <a:cs typeface="Calibri"/>
              </a:rPr>
              <a:t>HAR (Corsi, 2009)</a:t>
            </a:r>
          </a:p>
        </p:txBody>
      </p:sp>
      <p:sp>
        <p:nvSpPr>
          <p:cNvPr id="9" name="Rectangle 8">
            <a:extLst>
              <a:ext uri="{FF2B5EF4-FFF2-40B4-BE49-F238E27FC236}">
                <a16:creationId xmlns:a16="http://schemas.microsoft.com/office/drawing/2014/main" id="{69BCC37E-0CCA-4443-AE6F-3AD35C921782}"/>
              </a:ext>
            </a:extLst>
          </p:cNvPr>
          <p:cNvSpPr>
            <a:spLocks noGrp="1"/>
          </p:cNvSpPr>
          <p:nvPr/>
        </p:nvSpPr>
        <p:spPr>
          <a:xfrm>
            <a:off x="666750" y="2057400"/>
            <a:ext cx="10858500" cy="514350"/>
          </a:xfrm>
          <a:prstGeom prst="rect">
            <a:avLst/>
          </a:prstGeom>
          <a:solidFill>
            <a:srgbClr val="F2F2F2"/>
          </a:solidFill>
          <a:ln w="0">
            <a:noFill/>
          </a:ln>
        </p:spPr>
        <p:txBody>
          <a:bodyPr lIns="91440" tIns="45720" rIns="91440" bIns="45720" anchor="t">
            <a:noAutofit/>
          </a:bodyPr>
          <a:lstStyle/>
          <a:p>
            <a:pPr algn="ctr">
              <a:defRPr sz="2100" b="1" i="0">
                <a:solidFill>
                  <a:srgbClr val="C82B00"/>
                </a:solidFill>
                <a:latin typeface="Calibri"/>
                <a:ea typeface="Calibri"/>
                <a:cs typeface="Calibri"/>
              </a:defRPr>
            </a:pPr>
            <a:r>
              <a:rPr lang="en-US" sz="2800" b="1" err="1">
                <a:solidFill>
                  <a:srgbClr val="C82B00"/>
                </a:solidFill>
                <a:ea typeface="+mn-lt"/>
                <a:cs typeface="+mn-lt"/>
              </a:rPr>
              <a:t>RV</a:t>
            </a:r>
            <a:r>
              <a:rPr lang="en-US" sz="2800" b="1" baseline="-25000" err="1">
                <a:solidFill>
                  <a:srgbClr val="C82B00"/>
                </a:solidFill>
                <a:ea typeface="+mn-lt"/>
                <a:cs typeface="+mn-lt"/>
              </a:rPr>
              <a:t>t</a:t>
            </a:r>
            <a:r>
              <a:rPr lang="en-US" sz="2800" b="1">
                <a:solidFill>
                  <a:srgbClr val="C82B00"/>
                </a:solidFill>
                <a:ea typeface="+mn-lt"/>
                <a:cs typeface="+mn-lt"/>
              </a:rPr>
              <a:t> = β</a:t>
            </a:r>
            <a:r>
              <a:rPr lang="en-US" sz="2800" b="1" baseline="-25000">
                <a:solidFill>
                  <a:srgbClr val="C82B00"/>
                </a:solidFill>
                <a:ea typeface="+mn-lt"/>
                <a:cs typeface="+mn-lt"/>
              </a:rPr>
              <a:t>0</a:t>
            </a:r>
            <a:r>
              <a:rPr lang="en-US" sz="2800" b="1">
                <a:solidFill>
                  <a:srgbClr val="C82B00"/>
                </a:solidFill>
                <a:ea typeface="+mn-lt"/>
                <a:cs typeface="+mn-lt"/>
              </a:rPr>
              <a:t> </a:t>
            </a:r>
            <a:r>
              <a:rPr lang="en-US" sz="2800" b="1" i="0">
                <a:solidFill>
                  <a:srgbClr val="C82B00"/>
                </a:solidFill>
                <a:ea typeface="+mn-lt"/>
                <a:cs typeface="+mn-lt"/>
              </a:rPr>
              <a:t>+</a:t>
            </a:r>
            <a:r>
              <a:rPr lang="en-US" sz="2800" b="1">
                <a:solidFill>
                  <a:srgbClr val="C82B00"/>
                </a:solidFill>
                <a:ea typeface="+mn-lt"/>
                <a:cs typeface="+mn-lt"/>
              </a:rPr>
              <a:t> β</a:t>
            </a:r>
            <a:r>
              <a:rPr lang="en-US" sz="2800" b="1" baseline="-25000">
                <a:solidFill>
                  <a:srgbClr val="C82B00"/>
                </a:solidFill>
                <a:ea typeface="+mn-lt"/>
                <a:cs typeface="+mn-lt"/>
              </a:rPr>
              <a:t>1</a:t>
            </a:r>
            <a:r>
              <a:rPr lang="en-US" sz="2800" b="1">
                <a:solidFill>
                  <a:srgbClr val="C82B00"/>
                </a:solidFill>
                <a:ea typeface="+mn-lt"/>
                <a:cs typeface="+mn-lt"/>
              </a:rPr>
              <a:t>·RV</a:t>
            </a:r>
            <a:r>
              <a:rPr lang="en-US" sz="2800" b="1" baseline="-25000">
                <a:solidFill>
                  <a:srgbClr val="C82B00"/>
                </a:solidFill>
                <a:ea typeface="+mn-lt"/>
                <a:cs typeface="+mn-lt"/>
              </a:rPr>
              <a:t>t−</a:t>
            </a:r>
            <a:r>
              <a:rPr lang="en-US" sz="2800" b="1" i="0" baseline="-25000">
                <a:solidFill>
                  <a:srgbClr val="C82B00"/>
                </a:solidFill>
                <a:ea typeface="+mn-lt"/>
                <a:cs typeface="+mn-lt"/>
              </a:rPr>
              <a:t>1</a:t>
            </a:r>
            <a:r>
              <a:rPr lang="en-US" sz="2800" b="1" i="0">
                <a:solidFill>
                  <a:srgbClr val="C82B00"/>
                </a:solidFill>
                <a:ea typeface="+mn-lt"/>
                <a:cs typeface="+mn-lt"/>
              </a:rPr>
              <a:t> + </a:t>
            </a:r>
            <a:r>
              <a:rPr lang="en-US" sz="2800" b="1">
                <a:solidFill>
                  <a:srgbClr val="C82B00"/>
                </a:solidFill>
                <a:ea typeface="+mn-lt"/>
                <a:cs typeface="+mn-lt"/>
              </a:rPr>
              <a:t>β</a:t>
            </a:r>
            <a:r>
              <a:rPr lang="en-US" sz="2800" b="1" baseline="-25000">
                <a:solidFill>
                  <a:srgbClr val="C82B00"/>
                </a:solidFill>
                <a:ea typeface="+mn-lt"/>
                <a:cs typeface="+mn-lt"/>
              </a:rPr>
              <a:t>2</a:t>
            </a:r>
            <a:r>
              <a:rPr lang="en-US" sz="2800" b="1" i="0">
                <a:solidFill>
                  <a:srgbClr val="C82B00"/>
                </a:solidFill>
                <a:ea typeface="+mn-lt"/>
                <a:cs typeface="+mn-lt"/>
              </a:rPr>
              <a:t>·</a:t>
            </a:r>
            <a:r>
              <a:rPr lang="en-US" sz="2800" b="1">
                <a:solidFill>
                  <a:srgbClr val="C82B00"/>
                </a:solidFill>
                <a:ea typeface="+mn-lt"/>
                <a:cs typeface="+mn-lt"/>
              </a:rPr>
              <a:t>RV</a:t>
            </a:r>
            <a:r>
              <a:rPr lang="en-US" sz="2800" b="1" baseline="-25000">
                <a:solidFill>
                  <a:srgbClr val="C82B00"/>
                </a:solidFill>
                <a:ea typeface="+mn-lt"/>
                <a:cs typeface="+mn-lt"/>
              </a:rPr>
              <a:t>t−1|t−5</a:t>
            </a:r>
            <a:r>
              <a:rPr lang="en-US" sz="2800" b="1">
                <a:solidFill>
                  <a:srgbClr val="C82B00"/>
                </a:solidFill>
                <a:ea typeface="+mn-lt"/>
                <a:cs typeface="+mn-lt"/>
              </a:rPr>
              <a:t> </a:t>
            </a:r>
            <a:r>
              <a:rPr lang="en-US" sz="2800" b="1" i="0">
                <a:solidFill>
                  <a:srgbClr val="C82B00"/>
                </a:solidFill>
                <a:ea typeface="+mn-lt"/>
                <a:cs typeface="+mn-lt"/>
              </a:rPr>
              <a:t>+ </a:t>
            </a:r>
            <a:r>
              <a:rPr lang="en-US" sz="2800" b="1">
                <a:solidFill>
                  <a:srgbClr val="C82B00"/>
                </a:solidFill>
                <a:ea typeface="+mn-lt"/>
                <a:cs typeface="+mn-lt"/>
              </a:rPr>
              <a:t>β</a:t>
            </a:r>
            <a:r>
              <a:rPr lang="en-US" sz="2800" b="1" baseline="-25000">
                <a:solidFill>
                  <a:srgbClr val="C82B00"/>
                </a:solidFill>
                <a:ea typeface="+mn-lt"/>
                <a:cs typeface="+mn-lt"/>
              </a:rPr>
              <a:t>3</a:t>
            </a:r>
            <a:r>
              <a:rPr lang="en-US" sz="2800" b="1" i="0">
                <a:solidFill>
                  <a:srgbClr val="C82B00"/>
                </a:solidFill>
                <a:ea typeface="+mn-lt"/>
                <a:cs typeface="+mn-lt"/>
              </a:rPr>
              <a:t>·</a:t>
            </a:r>
            <a:r>
              <a:rPr lang="en-US" sz="2800" b="1">
                <a:solidFill>
                  <a:srgbClr val="C82B00"/>
                </a:solidFill>
                <a:ea typeface="+mn-lt"/>
                <a:cs typeface="+mn-lt"/>
              </a:rPr>
              <a:t>RV</a:t>
            </a:r>
            <a:r>
              <a:rPr lang="en-US" sz="2800" b="1" baseline="-25000">
                <a:solidFill>
                  <a:srgbClr val="C82B00"/>
                </a:solidFill>
                <a:ea typeface="+mn-lt"/>
                <a:cs typeface="+mn-lt"/>
              </a:rPr>
              <a:t>t−1|t−22</a:t>
            </a:r>
            <a:r>
              <a:rPr lang="en-US" sz="2800" b="1">
                <a:solidFill>
                  <a:srgbClr val="C82B00"/>
                </a:solidFill>
                <a:ea typeface="+mn-lt"/>
                <a:cs typeface="+mn-lt"/>
              </a:rPr>
              <a:t> </a:t>
            </a:r>
            <a:r>
              <a:rPr lang="en-US" sz="2800" b="1" i="0">
                <a:solidFill>
                  <a:srgbClr val="C82B00"/>
                </a:solidFill>
                <a:ea typeface="+mn-lt"/>
                <a:cs typeface="+mn-lt"/>
              </a:rPr>
              <a:t>+ </a:t>
            </a:r>
            <a:r>
              <a:rPr lang="en-US" sz="2800" b="1" err="1">
                <a:solidFill>
                  <a:srgbClr val="C82B00"/>
                </a:solidFill>
                <a:ea typeface="+mn-lt"/>
                <a:cs typeface="+mn-lt"/>
              </a:rPr>
              <a:t>u</a:t>
            </a:r>
            <a:r>
              <a:rPr lang="en-US" sz="2800" b="1" baseline="-25000" err="1">
                <a:solidFill>
                  <a:srgbClr val="C82B00"/>
                </a:solidFill>
                <a:ea typeface="+mn-lt"/>
                <a:cs typeface="+mn-lt"/>
              </a:rPr>
              <a:t>t</a:t>
            </a:r>
            <a:endParaRPr/>
          </a:p>
        </p:txBody>
      </p:sp>
      <p:sp>
        <p:nvSpPr>
          <p:cNvPr id="10" name="Rectangle 9">
            <a:extLst>
              <a:ext uri="{FF2B5EF4-FFF2-40B4-BE49-F238E27FC236}">
                <a16:creationId xmlns:a16="http://schemas.microsoft.com/office/drawing/2014/main" id="{A9B2E2AB-9023-476D-8C0C-EF7208D0E498}"/>
              </a:ext>
            </a:extLst>
          </p:cNvPr>
          <p:cNvSpPr>
            <a:spLocks noGrp="1"/>
          </p:cNvSpPr>
          <p:nvPr/>
        </p:nvSpPr>
        <p:spPr>
          <a:xfrm>
            <a:off x="742950" y="2914650"/>
            <a:ext cx="5143500" cy="2000250"/>
          </a:xfrm>
          <a:prstGeom prst="rect">
            <a:avLst/>
          </a:prstGeom>
          <a:noFill/>
          <a:ln w="0">
            <a:noFill/>
          </a:ln>
        </p:spPr>
        <p:txBody>
          <a:bodyPr lIns="91440" tIns="45720" rIns="91440" bIns="45720" anchor="t">
            <a:noAutofit/>
          </a:bodyPr>
          <a:lstStyle/>
          <a:p>
            <a:pPr marL="228600" indent="-114300">
              <a:spcAft>
                <a:spcPts val="1200"/>
              </a:spcAft>
              <a:buFontTx/>
              <a:buChar char="•"/>
              <a:defRPr sz="1875">
                <a:solidFill>
                  <a:srgbClr val="000000"/>
                </a:solidFill>
                <a:latin typeface="Calibri"/>
                <a:ea typeface="Calibri"/>
                <a:cs typeface="Calibri"/>
              </a:defRPr>
            </a:pPr>
            <a:r>
              <a:rPr sz="1850">
                <a:solidFill>
                  <a:srgbClr val="000000"/>
                </a:solidFill>
                <a:latin typeface="Calibri"/>
                <a:ea typeface="Calibri"/>
                <a:cs typeface="Calibri"/>
              </a:rPr>
              <a:t>Simple </a:t>
            </a:r>
            <a:r>
              <a:rPr lang="en-US" sz="1850">
                <a:solidFill>
                  <a:srgbClr val="000000"/>
                </a:solidFill>
                <a:latin typeface="Calibri"/>
                <a:ea typeface="Calibri"/>
                <a:cs typeface="Calibri"/>
              </a:rPr>
              <a:t>linear</a:t>
            </a:r>
            <a:r>
              <a:rPr sz="1850">
                <a:solidFill>
                  <a:srgbClr val="000000"/>
                </a:solidFill>
                <a:latin typeface="Calibri"/>
                <a:ea typeface="Calibri"/>
                <a:cs typeface="Calibri"/>
              </a:rPr>
              <a:t> model with daily, weekly, and monthly components</a:t>
            </a:r>
            <a:endParaRPr lang="en-US" sz="1850"/>
          </a:p>
          <a:p>
            <a:pPr marL="228600" indent="-114300">
              <a:spcAft>
                <a:spcPts val="1200"/>
              </a:spcAft>
              <a:buChar char="•"/>
              <a:defRPr sz="1875">
                <a:solidFill>
                  <a:srgbClr val="000000"/>
                </a:solidFill>
                <a:latin typeface="Calibri"/>
                <a:ea typeface="Calibri"/>
                <a:cs typeface="Calibri"/>
              </a:defRPr>
            </a:pPr>
            <a:r>
              <a:rPr sz="1850">
                <a:solidFill>
                  <a:srgbClr val="000000"/>
                </a:solidFill>
                <a:latin typeface="Calibri"/>
                <a:ea typeface="Calibri"/>
                <a:cs typeface="Calibri"/>
              </a:rPr>
              <a:t>Approximates the long-memory property of realized variance</a:t>
            </a:r>
          </a:p>
          <a:p>
            <a:pPr marL="228600" indent="-114300">
              <a:spcAft>
                <a:spcPts val="1200"/>
              </a:spcAft>
              <a:buChar char="•"/>
              <a:defRPr sz="1875">
                <a:solidFill>
                  <a:srgbClr val="000000"/>
                </a:solidFill>
                <a:latin typeface="Calibri"/>
                <a:ea typeface="Calibri"/>
                <a:cs typeface="Calibri"/>
              </a:defRPr>
            </a:pPr>
            <a:r>
              <a:rPr sz="1850">
                <a:solidFill>
                  <a:srgbClr val="000000"/>
                </a:solidFill>
                <a:latin typeface="Calibri"/>
                <a:ea typeface="Calibri"/>
                <a:cs typeface="Calibri"/>
              </a:rPr>
              <a:t>Established benchmark in the volatility literature</a:t>
            </a:r>
          </a:p>
        </p:txBody>
      </p:sp>
      <p:sp>
        <p:nvSpPr>
          <p:cNvPr id="11" name="Rectangle 10">
            <a:extLst>
              <a:ext uri="{FF2B5EF4-FFF2-40B4-BE49-F238E27FC236}">
                <a16:creationId xmlns:a16="http://schemas.microsoft.com/office/drawing/2014/main" id="{6CBC4E75-2EB0-4953-9854-52AAEF127FA8}"/>
              </a:ext>
            </a:extLst>
          </p:cNvPr>
          <p:cNvSpPr>
            <a:spLocks noGrp="1"/>
          </p:cNvSpPr>
          <p:nvPr/>
        </p:nvSpPr>
        <p:spPr>
          <a:xfrm>
            <a:off x="6667500" y="2952750"/>
            <a:ext cx="4286250" cy="323850"/>
          </a:xfrm>
          <a:prstGeom prst="rect">
            <a:avLst/>
          </a:prstGeom>
          <a:noFill/>
          <a:ln w="0">
            <a:noFill/>
          </a:ln>
        </p:spPr>
        <p:txBody>
          <a:bodyPr anchor="t">
            <a:noAutofit/>
          </a:bodyPr>
          <a:lstStyle/>
          <a:p>
            <a:pPr algn="l">
              <a:defRPr sz="1500" b="1" i="0">
                <a:solidFill>
                  <a:srgbClr val="C82B00"/>
                </a:solidFill>
                <a:latin typeface="Calibri"/>
                <a:ea typeface="Calibri"/>
                <a:cs typeface="Calibri"/>
              </a:defRPr>
            </a:pPr>
            <a:r>
              <a:rPr sz="1500" b="1" i="0">
                <a:solidFill>
                  <a:srgbClr val="C82B00"/>
                </a:solidFill>
                <a:latin typeface="Calibri"/>
                <a:ea typeface="Calibri"/>
                <a:cs typeface="Calibri"/>
              </a:rPr>
              <a:t>Open question</a:t>
            </a:r>
          </a:p>
        </p:txBody>
      </p:sp>
      <p:sp>
        <p:nvSpPr>
          <p:cNvPr id="12" name="Rectangle 11">
            <a:extLst>
              <a:ext uri="{FF2B5EF4-FFF2-40B4-BE49-F238E27FC236}">
                <a16:creationId xmlns:a16="http://schemas.microsoft.com/office/drawing/2014/main" id="{EB68E8D1-994F-43BA-9587-A9DE46F40E23}"/>
              </a:ext>
            </a:extLst>
          </p:cNvPr>
          <p:cNvSpPr>
            <a:spLocks noGrp="1"/>
          </p:cNvSpPr>
          <p:nvPr/>
        </p:nvSpPr>
        <p:spPr>
          <a:xfrm>
            <a:off x="6667500" y="3409950"/>
            <a:ext cx="4286250" cy="1257300"/>
          </a:xfrm>
          <a:prstGeom prst="rect">
            <a:avLst/>
          </a:prstGeom>
          <a:noFill/>
          <a:ln w="0">
            <a:noFill/>
          </a:ln>
        </p:spPr>
        <p:txBody>
          <a:bodyPr anchor="t">
            <a:noAutofit/>
          </a:bodyPr>
          <a:lstStyle/>
          <a:p>
            <a:pPr algn="l">
              <a:defRPr sz="2325" b="1" i="0">
                <a:solidFill>
                  <a:srgbClr val="000000"/>
                </a:solidFill>
                <a:latin typeface="Calibri"/>
                <a:ea typeface="Calibri"/>
                <a:cs typeface="Calibri"/>
              </a:defRPr>
            </a:pPr>
            <a:r>
              <a:rPr sz="2325" b="1" i="0">
                <a:solidFill>
                  <a:srgbClr val="000000"/>
                </a:solidFill>
                <a:latin typeface="Calibri"/>
                <a:ea typeface="Calibri"/>
                <a:cs typeface="Calibri"/>
              </a:rPr>
              <a:t>Can flexible ML models actually beat the parsimonious HAR benchmark?</a:t>
            </a:r>
          </a:p>
        </p:txBody>
      </p:sp>
      <p:sp>
        <p:nvSpPr>
          <p:cNvPr id="14" name="Rectangle 13">
            <a:extLst>
              <a:ext uri="{FF2B5EF4-FFF2-40B4-BE49-F238E27FC236}">
                <a16:creationId xmlns:a16="http://schemas.microsoft.com/office/drawing/2014/main" id="{29063086-8F8F-41F7-AC8F-74CC91C414EE}"/>
              </a:ext>
            </a:extLst>
          </p:cNvPr>
          <p:cNvSpPr>
            <a:spLocks noGrp="1"/>
          </p:cNvSpPr>
          <p:nvPr/>
        </p:nvSpPr>
        <p:spPr>
          <a:xfrm>
            <a:off x="895350" y="5981700"/>
            <a:ext cx="10477500" cy="209550"/>
          </a:xfrm>
          <a:prstGeom prst="rect">
            <a:avLst/>
          </a:prstGeom>
          <a:noFill/>
          <a:ln w="0">
            <a:noFill/>
          </a:ln>
        </p:spPr>
        <p:txBody>
          <a:bodyPr anchor="t">
            <a:noAutofit/>
          </a:bodyPr>
          <a:lstStyle/>
          <a:p>
            <a:pPr algn="l">
              <a:defRPr sz="1125" b="0" i="1">
                <a:solidFill>
                  <a:srgbClr val="C82B00"/>
                </a:solidFill>
                <a:latin typeface="Calibri"/>
                <a:ea typeface="Calibri"/>
                <a:cs typeface="Calibri"/>
              </a:defRPr>
            </a:pPr>
            <a:r>
              <a:rPr sz="1125" b="0" i="1">
                <a:solidFill>
                  <a:srgbClr val="C82B00"/>
                </a:solidFill>
                <a:latin typeface="Calibri"/>
                <a:ea typeface="Calibri"/>
                <a:cs typeface="Calibri"/>
              </a:rPr>
              <a:t>To add: check the HAR equation and explain it visually if helpful</a:t>
            </a:r>
          </a:p>
        </p:txBody>
      </p:sp>
      <p:pic>
        <p:nvPicPr>
          <p:cNvPr id="17" name="Picture 16">
            <a:extLst>
              <a:ext uri="{FF2B5EF4-FFF2-40B4-BE49-F238E27FC236}">
                <a16:creationId xmlns:a16="http://schemas.microsoft.com/office/drawing/2014/main" id="{AA774025-73AA-B4A8-0025-1F5EF6429949}"/>
              </a:ext>
            </a:extLst>
          </p:cNvPr>
          <p:cNvPicPr>
            <a:picLocks noChangeAspect="1"/>
          </p:cNvPicPr>
          <p:nvPr/>
        </p:nvPicPr>
        <p:blipFill>
          <a:blip r:embed="rId3"/>
          <a:stretch>
            <a:fillRect/>
          </a:stretch>
        </p:blipFill>
        <p:spPr>
          <a:xfrm>
            <a:off x="609600" y="4929395"/>
            <a:ext cx="10099964" cy="1501937"/>
          </a:xfrm>
          <a:prstGeom prst="rect">
            <a:avLst/>
          </a:prstGeom>
        </p:spPr>
      </p:pic>
      <p:sp>
        <p:nvSpPr>
          <p:cNvPr id="19" name="TextBox 18">
            <a:extLst>
              <a:ext uri="{FF2B5EF4-FFF2-40B4-BE49-F238E27FC236}">
                <a16:creationId xmlns:a16="http://schemas.microsoft.com/office/drawing/2014/main" id="{58DB2310-8CD3-FF40-B6CB-59EE1577BBF9}"/>
              </a:ext>
            </a:extLst>
          </p:cNvPr>
          <p:cNvSpPr txBox="1"/>
          <p:nvPr/>
        </p:nvSpPr>
        <p:spPr>
          <a:xfrm>
            <a:off x="671946" y="2583873"/>
            <a:ext cx="108931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a:solidFill>
                  <a:srgbClr val="C82B00"/>
                </a:solidFill>
                <a:ea typeface="+mn-lt"/>
                <a:cs typeface="+mn-lt"/>
              </a:rPr>
              <a:t>The weekly and monthly terms are averages of RV over the previous 5 and 22 trading days (Corsi 2009, Eq. 5)</a:t>
            </a:r>
            <a:endParaRPr lang="en-US"/>
          </a:p>
          <a:p>
            <a:pPr algn="l"/>
            <a:endParaRPr lang="en-US"/>
          </a:p>
        </p:txBody>
      </p:sp>
    </p:spTree>
    <p:extLst>
      <p:ext uri="{BB962C8B-B14F-4D97-AF65-F5344CB8AC3E}">
        <p14:creationId xmlns:p14="http://schemas.microsoft.com/office/powerpoint/2010/main" val="2468871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721038" y="288148"/>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RESEARCH QUESTION</a:t>
            </a:r>
            <a:endParaRPr lang="en-US" sz="1200">
              <a:latin typeface="Calibri"/>
            </a:endParaRPr>
          </a:p>
        </p:txBody>
      </p:sp>
      <p:sp>
        <p:nvSpPr>
          <p:cNvPr id="5" name="Text 3"/>
          <p:cNvSpPr txBox="1"/>
          <p:nvPr/>
        </p:nvSpPr>
        <p:spPr>
          <a:xfrm>
            <a:off x="9590718" y="288148"/>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Arial" pitchFamily="34" charset="0"/>
                <a:ea typeface="Arial" pitchFamily="34" charset="-122"/>
                <a:cs typeface="Arial" pitchFamily="34" charset="-120"/>
              </a:rPr>
              <a:t>Adrian</a:t>
            </a:r>
            <a:endParaRPr lang="en-US" sz="1200"/>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a:ea typeface="Calibri" pitchFamily="34" charset="-122"/>
                <a:cs typeface="Calibri" pitchFamily="34" charset="-120"/>
              </a:rPr>
              <a:t>Christensen, Siggaard &amp; Veliyev</a:t>
            </a:r>
            <a:endParaRPr lang="en-US" sz="1000">
              <a:latin typeface="Calibri"/>
            </a:endParaRPr>
          </a:p>
        </p:txBody>
      </p:sp>
      <p:sp>
        <p:nvSpPr>
          <p:cNvPr id="9" name="Text 7"/>
          <p:cNvSpPr txBox="1"/>
          <p:nvPr/>
        </p:nvSpPr>
        <p:spPr>
          <a:xfrm>
            <a:off x="721038" y="710259"/>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Research question and contribution</a:t>
            </a:r>
            <a:endParaRPr lang="en-US" sz="2700">
              <a:latin typeface="Calibri"/>
              <a:cs typeface="Calibri"/>
            </a:endParaRPr>
          </a:p>
        </p:txBody>
      </p:sp>
      <p:sp>
        <p:nvSpPr>
          <p:cNvPr id="10" name="Shape 8"/>
          <p:cNvSpPr/>
          <p:nvPr/>
        </p:nvSpPr>
        <p:spPr>
          <a:xfrm>
            <a:off x="693160" y="1423193"/>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9287" y="1423193"/>
            <a:ext cx="10059391" cy="960120"/>
          </a:xfrm>
          <a:prstGeom prst="rect">
            <a:avLst/>
          </a:prstGeom>
          <a:noFill/>
          <a:ln/>
        </p:spPr>
        <p:txBody>
          <a:bodyPr wrap="square" lIns="0" tIns="0" rIns="0" bIns="0" rtlCol="0" anchor="ctr"/>
          <a:lstStyle/>
          <a:p>
            <a:pPr algn="ctr">
              <a:lnSpc>
                <a:spcPct val="120000"/>
              </a:lnSpc>
            </a:pPr>
            <a:r>
              <a:rPr lang="en-US" sz="2000" b="1">
                <a:solidFill>
                  <a:srgbClr val="FFFFFF"/>
                </a:solidFill>
                <a:latin typeface="Calibri"/>
                <a:ea typeface="Arial" pitchFamily="34" charset="-122"/>
                <a:cs typeface="Arial"/>
              </a:rPr>
              <a:t>How accurately can ML methods forecast the realized variance of individual stocks compared to HAR models?</a:t>
            </a:r>
            <a:endParaRPr lang="en-US" sz="2000">
              <a:latin typeface="Calibri"/>
              <a:cs typeface="Arial"/>
            </a:endParaRPr>
          </a:p>
        </p:txBody>
      </p:sp>
      <p:sp>
        <p:nvSpPr>
          <p:cNvPr id="12" name="Text 10"/>
          <p:cNvSpPr txBox="1"/>
          <p:nvPr/>
        </p:nvSpPr>
        <p:spPr>
          <a:xfrm>
            <a:off x="691150" y="2757535"/>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Calibri"/>
                <a:cs typeface="Calibri"/>
              </a:rPr>
              <a:t>Paper contribution</a:t>
            </a:r>
            <a:endParaRPr lang="en-US" b="1">
              <a:latin typeface="Calibri"/>
              <a:ea typeface="Calibri"/>
              <a:cs typeface="Calibri"/>
            </a:endParaRPr>
          </a:p>
        </p:txBody>
      </p:sp>
      <p:sp>
        <p:nvSpPr>
          <p:cNvPr id="13" name="Text 11"/>
          <p:cNvSpPr txBox="1"/>
          <p:nvPr/>
        </p:nvSpPr>
        <p:spPr>
          <a:xfrm>
            <a:off x="691150" y="3364524"/>
            <a:ext cx="10698480" cy="2331720"/>
          </a:xfrm>
          <a:prstGeom prst="rect">
            <a:avLst/>
          </a:prstGeom>
          <a:noFill/>
          <a:ln/>
        </p:spPr>
        <p:txBody>
          <a:bodyPr wrap="square" lIns="0" tIns="0" rIns="0" bIns="0" rtlCol="0" anchor="t"/>
          <a:lstStyle/>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First large-scale comparison of three ML families (regularized regression, trees, neural nets) against HAR on 29 Dow Jones stocks</a:t>
            </a:r>
          </a:p>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ML beats HAR even with minimal tuning: neural nets lead with identical inputs, most ML models win with extra predictors. The edge is flexibility, not more data.</a:t>
            </a:r>
          </a:p>
          <a:p>
            <a:pPr marL="228600" indent="-228600">
              <a:spcAft>
                <a:spcPts val="1000"/>
              </a:spcAft>
              <a:buSzPct val="100000"/>
              <a:buFont typeface="Arial" panose="020B0604020202020204" pitchFamily="34" charset="0"/>
              <a:buChar char="●"/>
            </a:pPr>
            <a:r>
              <a:rPr lang="en-US">
                <a:solidFill>
                  <a:srgbClr val="404040"/>
                </a:solidFill>
                <a:latin typeface="Calibri"/>
                <a:cs typeface="Arial"/>
              </a:rPr>
              <a:t>The ML advantage grows with the forecast horizon: it captures volatility’s long memory better than HAR’s fixed three-lag structure</a:t>
            </a:r>
          </a:p>
          <a:p>
            <a:pPr marL="228600" indent="-228600">
              <a:lnSpc>
                <a:spcPct val="118000"/>
              </a:lnSpc>
              <a:spcAft>
                <a:spcPts val="1000"/>
              </a:spcAft>
              <a:buSzPct val="100000"/>
              <a:buChar char="●"/>
            </a:pPr>
            <a:endParaRPr lang="en-US" dirty="0">
              <a:solidFill>
                <a:srgbClr val="404040"/>
              </a:solidFill>
              <a:latin typeface="Calibri"/>
              <a:cs typeface="Arial"/>
            </a:endParaRPr>
          </a:p>
        </p:txBody>
      </p:sp>
      <p:sp>
        <p:nvSpPr>
          <p:cNvPr id="17" name="Rectangle 16">
            <a:extLst>
              <a:ext uri="{FF2B5EF4-FFF2-40B4-BE49-F238E27FC236}">
                <a16:creationId xmlns:a16="http://schemas.microsoft.com/office/drawing/2014/main" id="{B0C17290-FF9F-F032-625A-E87C71F67353}"/>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05</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3979228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65282" y="278855"/>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OUR EXTENSION</a:t>
            </a:r>
            <a:endParaRPr lang="en-US" sz="1200">
              <a:latin typeface="Calibri"/>
            </a:endParaRPr>
          </a:p>
        </p:txBody>
      </p:sp>
      <p:sp>
        <p:nvSpPr>
          <p:cNvPr id="5" name="Text 3"/>
          <p:cNvSpPr txBox="1"/>
          <p:nvPr/>
        </p:nvSpPr>
        <p:spPr>
          <a:xfrm>
            <a:off x="9600011" y="278855"/>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Calibri"/>
                <a:ea typeface="Arial" pitchFamily="34" charset="-122"/>
                <a:cs typeface="Arial" pitchFamily="34" charset="-120"/>
              </a:rPr>
              <a:t>Adrian</a:t>
            </a:r>
            <a:endParaRPr lang="en-US" sz="1200">
              <a:latin typeface="Calibri"/>
            </a:endParaRPr>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pitchFamily="34" charset="0"/>
                <a:ea typeface="Calibri" pitchFamily="34" charset="-122"/>
                <a:cs typeface="Calibri" pitchFamily="34" charset="-120"/>
              </a:rPr>
              <a:t>Christensen, Siggaard &amp; Veliyev</a:t>
            </a:r>
            <a:endParaRPr lang="en-US" sz="1000"/>
          </a:p>
        </p:txBody>
      </p:sp>
      <p:sp>
        <p:nvSpPr>
          <p:cNvPr id="9" name="Text 7"/>
          <p:cNvSpPr txBox="1"/>
          <p:nvPr/>
        </p:nvSpPr>
        <p:spPr>
          <a:xfrm>
            <a:off x="665282" y="700966"/>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Does it still hold today?</a:t>
            </a:r>
            <a:endParaRPr lang="en-US" sz="2700">
              <a:latin typeface="Calibri"/>
              <a:cs typeface="Arial"/>
            </a:endParaRPr>
          </a:p>
        </p:txBody>
      </p:sp>
      <p:sp>
        <p:nvSpPr>
          <p:cNvPr id="10" name="Shape 8"/>
          <p:cNvSpPr/>
          <p:nvPr/>
        </p:nvSpPr>
        <p:spPr>
          <a:xfrm>
            <a:off x="665282" y="1432486"/>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5322" y="1432486"/>
            <a:ext cx="10058400" cy="960120"/>
          </a:xfrm>
          <a:prstGeom prst="rect">
            <a:avLst/>
          </a:prstGeom>
          <a:noFill/>
          <a:ln/>
        </p:spPr>
        <p:txBody>
          <a:bodyPr wrap="square" lIns="0" tIns="0" rIns="0" bIns="0" rtlCol="0" anchor="ctr"/>
          <a:lstStyle/>
          <a:p>
            <a:pPr marL="0" indent="0" algn="ctr">
              <a:lnSpc>
                <a:spcPct val="120000"/>
              </a:lnSpc>
              <a:buNone/>
            </a:pPr>
            <a:r>
              <a:rPr lang="en-US" sz="2000" b="1">
                <a:solidFill>
                  <a:srgbClr val="FFFFFF"/>
                </a:solidFill>
                <a:latin typeface="Calibri"/>
                <a:ea typeface="Arial" pitchFamily="34" charset="-122"/>
                <a:cs typeface="Arial"/>
              </a:rPr>
              <a:t>Does ML's edge over HAR hold out-of-sample in a new regime,</a:t>
            </a:r>
          </a:p>
          <a:p>
            <a:pPr marL="0" indent="0" algn="ctr">
              <a:lnSpc>
                <a:spcPct val="120000"/>
              </a:lnSpc>
              <a:buNone/>
            </a:pPr>
            <a:r>
              <a:rPr lang="en-US" sz="2000" b="1">
                <a:solidFill>
                  <a:srgbClr val="FFFFFF"/>
                </a:solidFill>
                <a:latin typeface="Calibri"/>
                <a:ea typeface="Arial" pitchFamily="34" charset="-122"/>
                <a:cs typeface="Arial"/>
              </a:rPr>
              <a:t>2016–2026, using only open data?</a:t>
            </a:r>
          </a:p>
        </p:txBody>
      </p:sp>
      <p:sp>
        <p:nvSpPr>
          <p:cNvPr id="12" name="Text 10"/>
          <p:cNvSpPr txBox="1"/>
          <p:nvPr/>
        </p:nvSpPr>
        <p:spPr>
          <a:xfrm>
            <a:off x="674575" y="2631539"/>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Arial" pitchFamily="34" charset="-122"/>
                <a:cs typeface="Arial"/>
              </a:rPr>
              <a:t>Our</a:t>
            </a:r>
            <a:r>
              <a:rPr lang="en-US" sz="1500" b="1">
                <a:solidFill>
                  <a:srgbClr val="C82B00"/>
                </a:solidFill>
                <a:latin typeface="Calibri"/>
                <a:ea typeface="Arial" pitchFamily="34" charset="-122"/>
                <a:cs typeface="Arial"/>
              </a:rPr>
              <a:t> </a:t>
            </a:r>
            <a:r>
              <a:rPr lang="en-US" b="1">
                <a:solidFill>
                  <a:srgbClr val="C82B00"/>
                </a:solidFill>
                <a:latin typeface="Calibri"/>
                <a:ea typeface="Arial" pitchFamily="34" charset="-122"/>
                <a:cs typeface="Arial"/>
              </a:rPr>
              <a:t>hypotheses</a:t>
            </a:r>
            <a:endParaRPr lang="en-US">
              <a:latin typeface="Calibri"/>
              <a:cs typeface="Arial"/>
            </a:endParaRPr>
          </a:p>
        </p:txBody>
      </p:sp>
      <p:sp>
        <p:nvSpPr>
          <p:cNvPr id="15" name="Text 13"/>
          <p:cNvSpPr txBox="1"/>
          <p:nvPr/>
        </p:nvSpPr>
        <p:spPr>
          <a:xfrm>
            <a:off x="690887" y="3160773"/>
            <a:ext cx="10168128" cy="658368"/>
          </a:xfrm>
          <a:prstGeom prst="rect">
            <a:avLst/>
          </a:prstGeom>
          <a:noFill/>
          <a:ln/>
        </p:spPr>
        <p:txBody>
          <a:bodyPr wrap="square" lIns="0" tIns="0" rIns="0" bIns="0" rtlCol="0" anchor="ctr"/>
          <a:lstStyle/>
          <a:p>
            <a:pPr marL="228600" indent="-228600">
              <a:lnSpc>
                <a:spcPct val="100000"/>
              </a:lnSpc>
              <a:spcAft>
                <a:spcPts val="1000"/>
              </a:spcAft>
              <a:buSzPct val="100000"/>
              <a:buFont typeface="Arial" panose="020B0604020202020204" pitchFamily="34" charset="0"/>
              <a:buChar char="●"/>
            </a:pPr>
            <a:r>
              <a:rPr lang="en-AT" b="1">
                <a:solidFill>
                  <a:srgbClr val="404040"/>
                </a:solidFill>
                <a:latin typeface="Calibri"/>
                <a:cs typeface="Arial"/>
              </a:rPr>
              <a:t>H1 – Same inputs as HAR:</a:t>
            </a:r>
            <a:br>
              <a:rPr lang="en-AT" dirty="0">
                <a:latin typeface="Calibri"/>
                <a:cs typeface="Arial"/>
              </a:rPr>
            </a:br>
            <a:r>
              <a:rPr lang="en-AT">
                <a:solidFill>
                  <a:srgbClr val="404040"/>
                </a:solidFill>
                <a:latin typeface="Calibri"/>
                <a:cs typeface="Arial"/>
              </a:rPr>
              <a:t>Using only past realized volatility (daily, weekly, monthly), machine learning forecasts about as well as the Heterogeneous Autoregressive (HAR) model</a:t>
            </a:r>
            <a:r>
              <a:rPr lang="en-GB">
                <a:solidFill>
                  <a:srgbClr val="404040"/>
                </a:solidFill>
                <a:latin typeface="Calibri"/>
                <a:cs typeface="Arial"/>
              </a:rPr>
              <a:t>.</a:t>
            </a:r>
            <a:endParaRPr lang="en-US">
              <a:solidFill>
                <a:srgbClr val="404040"/>
              </a:solidFill>
              <a:latin typeface="Calibri"/>
              <a:cs typeface="Arial"/>
            </a:endParaRPr>
          </a:p>
        </p:txBody>
      </p:sp>
      <p:sp>
        <p:nvSpPr>
          <p:cNvPr id="18" name="Text 16"/>
          <p:cNvSpPr txBox="1"/>
          <p:nvPr/>
        </p:nvSpPr>
        <p:spPr>
          <a:xfrm>
            <a:off x="690887" y="4187026"/>
            <a:ext cx="10269728" cy="658368"/>
          </a:xfrm>
          <a:prstGeom prst="rect">
            <a:avLst/>
          </a:prstGeom>
          <a:noFill/>
          <a:ln/>
        </p:spPr>
        <p:txBody>
          <a:bodyPr wrap="square" lIns="0" tIns="0" rIns="0" bIns="0" rtlCol="0" anchor="ctr"/>
          <a:lstStyle/>
          <a:p>
            <a:pPr marL="228600" indent="-228600">
              <a:spcAft>
                <a:spcPts val="1000"/>
              </a:spcAft>
              <a:buSzPct val="100000"/>
              <a:buFont typeface="Arial" panose="020B0604020202020204" pitchFamily="34" charset="0"/>
              <a:buChar char="●"/>
            </a:pPr>
            <a:r>
              <a:rPr lang="en-AT" b="1">
                <a:solidFill>
                  <a:srgbClr val="404040"/>
                </a:solidFill>
                <a:latin typeface="Calibri"/>
                <a:cs typeface="Arial"/>
              </a:rPr>
              <a:t>H2 – Additional predictors:</a:t>
            </a:r>
            <a:br>
              <a:rPr lang="en-AT" dirty="0">
                <a:latin typeface="Calibri"/>
                <a:cs typeface="Arial"/>
              </a:rPr>
            </a:br>
            <a:r>
              <a:rPr lang="en-AT">
                <a:solidFill>
                  <a:srgbClr val="404040"/>
                </a:solidFill>
                <a:latin typeface="Calibri"/>
                <a:cs typeface="Arial"/>
              </a:rPr>
              <a:t>Once additional predictors such as implied volatility and the VIX are added, machine learning outperforms the HAR model.</a:t>
            </a:r>
            <a:endParaRPr lang="en-US">
              <a:solidFill>
                <a:srgbClr val="404040"/>
              </a:solidFill>
              <a:latin typeface="Calibri"/>
              <a:cs typeface="Arial"/>
            </a:endParaRPr>
          </a:p>
        </p:txBody>
      </p:sp>
      <p:sp>
        <p:nvSpPr>
          <p:cNvPr id="21" name="Text 19"/>
          <p:cNvSpPr txBox="1"/>
          <p:nvPr/>
        </p:nvSpPr>
        <p:spPr>
          <a:xfrm>
            <a:off x="666552" y="5213280"/>
            <a:ext cx="10168128" cy="658368"/>
          </a:xfrm>
          <a:prstGeom prst="rect">
            <a:avLst/>
          </a:prstGeom>
          <a:noFill/>
          <a:ln/>
        </p:spPr>
        <p:txBody>
          <a:bodyPr wrap="square" lIns="0" tIns="0" rIns="0" bIns="0" rtlCol="0" anchor="ctr"/>
          <a:lstStyle/>
          <a:p>
            <a:pPr marL="228600" indent="-228600">
              <a:lnSpc>
                <a:spcPct val="100000"/>
              </a:lnSpc>
              <a:spcAft>
                <a:spcPts val="1000"/>
              </a:spcAft>
              <a:buSzPct val="100000"/>
              <a:buFont typeface="Arial" panose="020B0604020202020204" pitchFamily="34" charset="0"/>
              <a:buChar char="●"/>
            </a:pPr>
            <a:r>
              <a:rPr lang="en-AT" b="1">
                <a:solidFill>
                  <a:srgbClr val="404040"/>
                </a:solidFill>
                <a:latin typeface="Calibri"/>
                <a:cs typeface="Arial"/>
              </a:rPr>
              <a:t>H3 – Forecast horizon</a:t>
            </a:r>
            <a:r>
              <a:rPr lang="en-AT">
                <a:solidFill>
                  <a:srgbClr val="404040"/>
                </a:solidFill>
                <a:latin typeface="Calibri"/>
                <a:cs typeface="Arial"/>
              </a:rPr>
              <a:t>:</a:t>
            </a:r>
            <a:br>
              <a:rPr lang="en-AT" dirty="0">
                <a:latin typeface="Calibri"/>
                <a:cs typeface="Arial"/>
              </a:rPr>
            </a:br>
            <a:r>
              <a:rPr lang="en-AT">
                <a:solidFill>
                  <a:srgbClr val="404040"/>
                </a:solidFill>
                <a:latin typeface="Calibri"/>
                <a:cs typeface="Arial"/>
              </a:rPr>
              <a:t>The advantage of machine learning over the HAR model grows with the forecast horizon, from one day to one week to one month.</a:t>
            </a:r>
            <a:endParaRPr lang="en-US">
              <a:solidFill>
                <a:srgbClr val="404040"/>
              </a:solidFill>
              <a:latin typeface="Calibri"/>
              <a:cs typeface="Arial"/>
            </a:endParaRPr>
          </a:p>
        </p:txBody>
      </p:sp>
      <p:sp>
        <p:nvSpPr>
          <p:cNvPr id="23" name="Rectangle 22">
            <a:extLst>
              <a:ext uri="{FF2B5EF4-FFF2-40B4-BE49-F238E27FC236}">
                <a16:creationId xmlns:a16="http://schemas.microsoft.com/office/drawing/2014/main" id="{0E466065-FA73-E9E8-5B8D-4999B0E7095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07</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91072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83866" y="232392"/>
            <a:ext cx="7772400" cy="292608"/>
          </a:xfrm>
          <a:prstGeom prst="rect">
            <a:avLst/>
          </a:prstGeom>
          <a:noFill/>
          <a:ln/>
        </p:spPr>
        <p:txBody>
          <a:bodyPr wrap="square" lIns="0" tIns="0" rIns="0" bIns="0" rtlCol="0" anchor="ctr"/>
          <a:lstStyle/>
          <a:p>
            <a:pPr marL="0" indent="0">
              <a:buNone/>
            </a:pPr>
            <a:r>
              <a:rPr lang="en-US" sz="1200" b="1" kern="0" spc="120">
                <a:solidFill>
                  <a:srgbClr val="5A5A5A"/>
                </a:solidFill>
                <a:latin typeface="Calibri"/>
                <a:ea typeface="Arial" pitchFamily="34" charset="-122"/>
                <a:cs typeface="Arial" pitchFamily="34" charset="-120"/>
              </a:rPr>
              <a:t>BLOCK 2 / CONTRIBUTION</a:t>
            </a:r>
            <a:endParaRPr lang="en-US" sz="1200">
              <a:latin typeface="Calibri"/>
            </a:endParaRPr>
          </a:p>
        </p:txBody>
      </p:sp>
      <p:sp>
        <p:nvSpPr>
          <p:cNvPr id="5" name="Text 3"/>
          <p:cNvSpPr txBox="1"/>
          <p:nvPr/>
        </p:nvSpPr>
        <p:spPr>
          <a:xfrm>
            <a:off x="9553546" y="232392"/>
            <a:ext cx="1828800" cy="292608"/>
          </a:xfrm>
          <a:prstGeom prst="rect">
            <a:avLst/>
          </a:prstGeom>
          <a:noFill/>
          <a:ln/>
        </p:spPr>
        <p:txBody>
          <a:bodyPr wrap="square" lIns="0" tIns="0" rIns="0" bIns="0" rtlCol="0" anchor="ctr"/>
          <a:lstStyle/>
          <a:p>
            <a:pPr marL="0" indent="0" algn="r">
              <a:buNone/>
            </a:pPr>
            <a:r>
              <a:rPr lang="en-US" sz="1200" b="1">
                <a:solidFill>
                  <a:srgbClr val="5A5A5A"/>
                </a:solidFill>
                <a:latin typeface="Arial" pitchFamily="34" charset="0"/>
                <a:ea typeface="Arial" pitchFamily="34" charset="-122"/>
                <a:cs typeface="Arial" pitchFamily="34" charset="-120"/>
              </a:rPr>
              <a:t>Adrian</a:t>
            </a:r>
            <a:endParaRPr lang="en-US" sz="1200"/>
          </a:p>
        </p:txBody>
      </p:sp>
      <p:sp>
        <p:nvSpPr>
          <p:cNvPr id="7" name="Text 5"/>
          <p:cNvSpPr txBox="1"/>
          <p:nvPr/>
        </p:nvSpPr>
        <p:spPr>
          <a:xfrm>
            <a:off x="5588000" y="6489700"/>
            <a:ext cx="5334000" cy="256032"/>
          </a:xfrm>
          <a:prstGeom prst="rect">
            <a:avLst/>
          </a:prstGeom>
          <a:noFill/>
          <a:ln/>
        </p:spPr>
        <p:txBody>
          <a:bodyPr wrap="square" lIns="0" tIns="0" rIns="0" bIns="0" rtlCol="0" anchor="ctr"/>
          <a:lstStyle/>
          <a:p>
            <a:pPr marL="0" indent="0" algn="r">
              <a:buNone/>
            </a:pPr>
            <a:r>
              <a:rPr lang="en-US" sz="900">
                <a:solidFill>
                  <a:srgbClr val="5A5A5A"/>
                </a:solidFill>
                <a:latin typeface="Calibri" pitchFamily="34" charset="0"/>
                <a:ea typeface="Calibri" pitchFamily="34" charset="-122"/>
                <a:cs typeface="Calibri" pitchFamily="34" charset="-120"/>
              </a:rPr>
              <a:t>Christensen, Siggaard &amp; Veliyev</a:t>
            </a:r>
            <a:endParaRPr lang="en-US" sz="1000"/>
          </a:p>
        </p:txBody>
      </p:sp>
      <p:sp>
        <p:nvSpPr>
          <p:cNvPr id="9" name="Text 7"/>
          <p:cNvSpPr txBox="1"/>
          <p:nvPr/>
        </p:nvSpPr>
        <p:spPr>
          <a:xfrm>
            <a:off x="683866" y="663795"/>
            <a:ext cx="10698480" cy="566928"/>
          </a:xfrm>
          <a:prstGeom prst="rect">
            <a:avLst/>
          </a:prstGeom>
          <a:noFill/>
          <a:ln/>
        </p:spPr>
        <p:txBody>
          <a:bodyPr wrap="square" lIns="0" tIns="0" rIns="0" bIns="0" rtlCol="0" anchor="t"/>
          <a:lstStyle/>
          <a:p>
            <a:pPr marL="0" indent="0">
              <a:buNone/>
            </a:pPr>
            <a:r>
              <a:rPr lang="en-US" sz="2700" b="1">
                <a:solidFill>
                  <a:srgbClr val="C82B00"/>
                </a:solidFill>
                <a:latin typeface="Calibri"/>
                <a:ea typeface="Arial" pitchFamily="34" charset="-122"/>
                <a:cs typeface="Arial"/>
              </a:rPr>
              <a:t>Our contribution </a:t>
            </a:r>
            <a:endParaRPr lang="en-US" sz="2700">
              <a:latin typeface="Calibri"/>
              <a:cs typeface="Arial"/>
            </a:endParaRPr>
          </a:p>
        </p:txBody>
      </p:sp>
      <p:sp>
        <p:nvSpPr>
          <p:cNvPr id="10" name="Shape 8"/>
          <p:cNvSpPr/>
          <p:nvPr/>
        </p:nvSpPr>
        <p:spPr>
          <a:xfrm>
            <a:off x="665281" y="1432487"/>
            <a:ext cx="10698480" cy="960120"/>
          </a:xfrm>
          <a:prstGeom prst="roundRect">
            <a:avLst>
              <a:gd name="adj" fmla="val 6667"/>
            </a:avLst>
          </a:prstGeom>
          <a:solidFill>
            <a:srgbClr val="C82B00"/>
          </a:solidFill>
          <a:ln/>
        </p:spPr>
        <p:txBody>
          <a:bodyPr/>
          <a:lstStyle/>
          <a:p>
            <a:endParaRPr lang="en-AT"/>
          </a:p>
        </p:txBody>
      </p:sp>
      <p:sp>
        <p:nvSpPr>
          <p:cNvPr id="11" name="Text 9"/>
          <p:cNvSpPr txBox="1"/>
          <p:nvPr/>
        </p:nvSpPr>
        <p:spPr>
          <a:xfrm>
            <a:off x="985321" y="1432487"/>
            <a:ext cx="10058400" cy="960120"/>
          </a:xfrm>
          <a:prstGeom prst="rect">
            <a:avLst/>
          </a:prstGeom>
          <a:noFill/>
          <a:ln/>
        </p:spPr>
        <p:txBody>
          <a:bodyPr wrap="square" lIns="0" tIns="0" rIns="0" bIns="0" rtlCol="0" anchor="ctr"/>
          <a:lstStyle/>
          <a:p>
            <a:pPr marL="0" indent="0" algn="ctr">
              <a:lnSpc>
                <a:spcPct val="120000"/>
              </a:lnSpc>
              <a:buNone/>
            </a:pPr>
            <a:r>
              <a:rPr lang="en-US" sz="2000" b="1">
                <a:solidFill>
                  <a:srgbClr val="FFFFFF"/>
                </a:solidFill>
                <a:latin typeface="Calibri"/>
                <a:ea typeface="Arial" pitchFamily="34" charset="-122"/>
                <a:cs typeface="Arial"/>
              </a:rPr>
              <a:t>We re-run the paper's design on a new</a:t>
            </a:r>
          </a:p>
          <a:p>
            <a:pPr marL="0" indent="0" algn="ctr">
              <a:lnSpc>
                <a:spcPct val="120000"/>
              </a:lnSpc>
              <a:buNone/>
            </a:pPr>
            <a:r>
              <a:rPr lang="en-US" sz="2000" b="1">
                <a:solidFill>
                  <a:srgbClr val="FFFFFF"/>
                </a:solidFill>
                <a:latin typeface="Calibri"/>
                <a:ea typeface="Arial" pitchFamily="34" charset="-122"/>
                <a:cs typeface="Arial"/>
              </a:rPr>
              <a:t>sample (2016–2026), with all test periods after the paper’s data ends.</a:t>
            </a:r>
          </a:p>
        </p:txBody>
      </p:sp>
      <p:sp>
        <p:nvSpPr>
          <p:cNvPr id="12" name="Text 10"/>
          <p:cNvSpPr txBox="1"/>
          <p:nvPr/>
        </p:nvSpPr>
        <p:spPr>
          <a:xfrm>
            <a:off x="683866" y="2724467"/>
            <a:ext cx="10698480" cy="310896"/>
          </a:xfrm>
          <a:prstGeom prst="rect">
            <a:avLst/>
          </a:prstGeom>
          <a:noFill/>
          <a:ln/>
        </p:spPr>
        <p:txBody>
          <a:bodyPr wrap="square" lIns="0" tIns="0" rIns="0" bIns="0" rtlCol="0" anchor="ctr"/>
          <a:lstStyle/>
          <a:p>
            <a:pPr marL="0" indent="0">
              <a:buNone/>
            </a:pPr>
            <a:r>
              <a:rPr lang="en-US" b="1">
                <a:solidFill>
                  <a:srgbClr val="C82B00"/>
                </a:solidFill>
                <a:latin typeface="Calibri"/>
                <a:ea typeface="Arial" pitchFamily="34" charset="-122"/>
                <a:cs typeface="Arial"/>
              </a:rPr>
              <a:t>What our replication adds</a:t>
            </a:r>
          </a:p>
        </p:txBody>
      </p:sp>
      <p:sp>
        <p:nvSpPr>
          <p:cNvPr id="13" name="Text 11"/>
          <p:cNvSpPr txBox="1"/>
          <p:nvPr/>
        </p:nvSpPr>
        <p:spPr>
          <a:xfrm>
            <a:off x="685876" y="3326683"/>
            <a:ext cx="10717065" cy="2515473"/>
          </a:xfrm>
          <a:prstGeom prst="rect">
            <a:avLst/>
          </a:prstGeom>
          <a:noFill/>
          <a:ln/>
        </p:spPr>
        <p:txBody>
          <a:bodyPr wrap="square" lIns="0" tIns="0" rIns="0" bIns="0" rtlCol="0" anchor="t"/>
          <a:lstStyle/>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A real stress test: the paper was only tested on a calm market (2015–2017)</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COVID test: three splits with COVID in training, in the test period, or removed</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Open data: VOLARE replaces the paid NYSE TAQ data, so anyone can rerun the study</a:t>
            </a:r>
          </a:p>
          <a:p>
            <a:pPr marL="228600" lvl="0" indent="-228600">
              <a:lnSpc>
                <a:spcPct val="118000"/>
              </a:lnSpc>
              <a:spcAft>
                <a:spcPts val="1000"/>
              </a:spcAft>
              <a:buSzPct val="100000"/>
              <a:buFont typeface="Arial" panose="020B0604020202020204" pitchFamily="34" charset="0"/>
              <a:buChar char="●"/>
            </a:pPr>
            <a:r>
              <a:rPr lang="en-AT">
                <a:solidFill>
                  <a:srgbClr val="404040"/>
                </a:solidFill>
                <a:latin typeface="Calibri"/>
                <a:cs typeface="Arial"/>
              </a:rPr>
              <a:t>More robust evaluation: QLIKE loss and a strict no-look-ahead rule</a:t>
            </a:r>
          </a:p>
        </p:txBody>
      </p:sp>
      <p:sp>
        <p:nvSpPr>
          <p:cNvPr id="15" name="Rectangle 14">
            <a:extLst>
              <a:ext uri="{FF2B5EF4-FFF2-40B4-BE49-F238E27FC236}">
                <a16:creationId xmlns:a16="http://schemas.microsoft.com/office/drawing/2014/main" id="{72A02821-DEFE-2918-D3D7-D01884F00FA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00" b="1" i="0">
                <a:solidFill>
                  <a:srgbClr val="5A5A5A"/>
                </a:solidFill>
                <a:latin typeface="Calibri"/>
                <a:ea typeface="Calibri"/>
                <a:cs typeface="Calibri"/>
              </a:rPr>
              <a:t>08</a:t>
            </a:r>
            <a:r>
              <a:rPr lang="de-DE" sz="900"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Tree>
    <p:extLst>
      <p:ext uri="{BB962C8B-B14F-4D97-AF65-F5344CB8AC3E}">
        <p14:creationId xmlns:p14="http://schemas.microsoft.com/office/powerpoint/2010/main" val="145106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C829A0-5866-4D49-8FA6-9384AC0B1755}"/>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DATA</a:t>
            </a:r>
          </a:p>
        </p:txBody>
      </p:sp>
      <p:sp>
        <p:nvSpPr>
          <p:cNvPr id="3" name="Rectangle 2">
            <a:extLst>
              <a:ext uri="{FF2B5EF4-FFF2-40B4-BE49-F238E27FC236}">
                <a16:creationId xmlns:a16="http://schemas.microsoft.com/office/drawing/2014/main" id="{884D68FD-C643-469B-A813-80E989C21446}"/>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6D3C805E-08B7-4EE3-8554-99B4FC13C506}"/>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Dataset and target variable</a:t>
            </a:r>
          </a:p>
        </p:txBody>
      </p:sp>
      <p:sp>
        <p:nvSpPr>
          <p:cNvPr id="6" name="Rectangle 5">
            <a:extLst>
              <a:ext uri="{FF2B5EF4-FFF2-40B4-BE49-F238E27FC236}">
                <a16:creationId xmlns:a16="http://schemas.microsoft.com/office/drawing/2014/main" id="{BFB5B2EE-6DF4-4BC8-8719-05F98024B1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07CDF4B7-6E31-4503-8092-77E8E031CBE0}"/>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09</a:t>
            </a:r>
            <a:r>
              <a:rPr lang="de-DE" sz="975"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05F5408D-844A-4CE3-A295-B2DFB165018E}"/>
              </a:ext>
            </a:extLst>
          </p:cNvPr>
          <p:cNvSpPr>
            <a:spLocks noGrp="1"/>
          </p:cNvSpPr>
          <p:nvPr/>
        </p:nvSpPr>
        <p:spPr>
          <a:xfrm>
            <a:off x="704850" y="1524000"/>
            <a:ext cx="1714500" cy="876300"/>
          </a:xfrm>
          <a:prstGeom prst="rect">
            <a:avLst/>
          </a:prstGeom>
          <a:noFill/>
          <a:ln w="0">
            <a:noFill/>
          </a:ln>
        </p:spPr>
        <p:txBody>
          <a:bodyPr anchor="t">
            <a:noAutofit/>
          </a:bodyPr>
          <a:lstStyle/>
          <a:p>
            <a:pPr algn="l">
              <a:defRPr sz="5250" b="1" i="0">
                <a:solidFill>
                  <a:srgbClr val="C82B00"/>
                </a:solidFill>
                <a:latin typeface="Calibri"/>
                <a:ea typeface="Calibri"/>
                <a:cs typeface="Calibri"/>
              </a:defRPr>
            </a:pPr>
            <a:r>
              <a:rPr sz="5250" b="1" i="0">
                <a:solidFill>
                  <a:srgbClr val="C82B00"/>
                </a:solidFill>
                <a:latin typeface="Calibri"/>
                <a:ea typeface="Calibri"/>
                <a:cs typeface="Calibri"/>
              </a:rPr>
              <a:t>30</a:t>
            </a:r>
          </a:p>
        </p:txBody>
      </p:sp>
      <p:sp>
        <p:nvSpPr>
          <p:cNvPr id="9" name="Rectangle 8">
            <a:extLst>
              <a:ext uri="{FF2B5EF4-FFF2-40B4-BE49-F238E27FC236}">
                <a16:creationId xmlns:a16="http://schemas.microsoft.com/office/drawing/2014/main" id="{F2A6F345-E9F8-4600-BFA7-26D1AD53649C}"/>
              </a:ext>
            </a:extLst>
          </p:cNvPr>
          <p:cNvSpPr>
            <a:spLocks noGrp="1"/>
          </p:cNvSpPr>
          <p:nvPr/>
        </p:nvSpPr>
        <p:spPr>
          <a:xfrm>
            <a:off x="2266950" y="1676400"/>
            <a:ext cx="3905250" cy="723900"/>
          </a:xfrm>
          <a:prstGeom prst="rect">
            <a:avLst/>
          </a:prstGeom>
          <a:noFill/>
          <a:ln w="0">
            <a:noFill/>
          </a:ln>
        </p:spPr>
        <p:txBody>
          <a:bodyPr anchor="t">
            <a:noAutofit/>
          </a:bodyPr>
          <a:lstStyle/>
          <a:p>
            <a:pPr algn="l">
              <a:defRPr sz="1800" b="1" i="0">
                <a:solidFill>
                  <a:srgbClr val="000000"/>
                </a:solidFill>
                <a:latin typeface="Calibri"/>
                <a:ea typeface="Calibri"/>
                <a:cs typeface="Calibri"/>
              </a:defRPr>
            </a:pPr>
            <a:r>
              <a:rPr sz="1800" b="1" i="0">
                <a:solidFill>
                  <a:srgbClr val="000000"/>
                </a:solidFill>
                <a:latin typeface="Calibri"/>
                <a:ea typeface="Calibri"/>
                <a:cs typeface="Calibri"/>
              </a:rPr>
              <a:t>Dow Jones stocks</a:t>
            </a:r>
          </a:p>
          <a:p>
            <a:pPr algn="l">
              <a:defRPr sz="1800" b="1" i="0">
                <a:solidFill>
                  <a:srgbClr val="000000"/>
                </a:solidFill>
                <a:latin typeface="Calibri"/>
                <a:ea typeface="Calibri"/>
                <a:cs typeface="Calibri"/>
              </a:defRPr>
            </a:pPr>
            <a:r>
              <a:rPr sz="1800" b="1" i="0">
                <a:solidFill>
                  <a:srgbClr val="000000"/>
                </a:solidFill>
                <a:latin typeface="Calibri"/>
                <a:ea typeface="Calibri"/>
                <a:cs typeface="Calibri"/>
              </a:rPr>
              <a:t>as listed in VOLARE</a:t>
            </a:r>
          </a:p>
        </p:txBody>
      </p:sp>
      <p:sp>
        <p:nvSpPr>
          <p:cNvPr id="10" name="Rectangle 9">
            <a:extLst>
              <a:ext uri="{FF2B5EF4-FFF2-40B4-BE49-F238E27FC236}">
                <a16:creationId xmlns:a16="http://schemas.microsoft.com/office/drawing/2014/main" id="{FB21473D-DDDD-43E7-8AD8-79F5D5CD1591}"/>
              </a:ext>
            </a:extLst>
          </p:cNvPr>
          <p:cNvSpPr>
            <a:spLocks noGrp="1"/>
          </p:cNvSpPr>
          <p:nvPr/>
        </p:nvSpPr>
        <p:spPr>
          <a:xfrm>
            <a:off x="6604000" y="1625600"/>
            <a:ext cx="2571750" cy="723900"/>
          </a:xfrm>
          <a:prstGeom prst="rect">
            <a:avLst/>
          </a:prstGeom>
          <a:noFill/>
          <a:ln w="0">
            <a:noFill/>
          </a:ln>
        </p:spPr>
        <p:txBody>
          <a:bodyPr anchor="t">
            <a:noAutofit/>
          </a:bodyPr>
          <a:lstStyle/>
          <a:p>
            <a:pPr algn="l">
              <a:defRPr sz="3600" b="1" i="0">
                <a:solidFill>
                  <a:srgbClr val="C82B00"/>
                </a:solidFill>
                <a:latin typeface="Calibri"/>
                <a:ea typeface="Calibri"/>
                <a:cs typeface="Calibri"/>
              </a:defRPr>
            </a:pPr>
            <a:r>
              <a:rPr sz="3600" b="1" i="0">
                <a:solidFill>
                  <a:srgbClr val="C82B00"/>
                </a:solidFill>
                <a:latin typeface="Calibri"/>
                <a:ea typeface="Calibri"/>
                <a:cs typeface="Calibri"/>
              </a:rPr>
              <a:t>2016–26</a:t>
            </a:r>
          </a:p>
        </p:txBody>
      </p:sp>
      <p:sp>
        <p:nvSpPr>
          <p:cNvPr id="11" name="Rectangle 10">
            <a:extLst>
              <a:ext uri="{FF2B5EF4-FFF2-40B4-BE49-F238E27FC236}">
                <a16:creationId xmlns:a16="http://schemas.microsoft.com/office/drawing/2014/main" id="{92F152FE-5EED-459C-B739-CC09DB8B6BCA}"/>
              </a:ext>
            </a:extLst>
          </p:cNvPr>
          <p:cNvSpPr>
            <a:spLocks noGrp="1"/>
          </p:cNvSpPr>
          <p:nvPr/>
        </p:nvSpPr>
        <p:spPr>
          <a:xfrm>
            <a:off x="9258300" y="1676400"/>
            <a:ext cx="2190750" cy="72390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sample period</a:t>
            </a:r>
          </a:p>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Jan 2016 – Sep 2026,</a:t>
            </a:r>
          </a:p>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2,701 trading days</a:t>
            </a:r>
          </a:p>
        </p:txBody>
      </p:sp>
      <p:sp>
        <p:nvSpPr>
          <p:cNvPr id="12" name="Rectangle 11">
            <a:extLst>
              <a:ext uri="{FF2B5EF4-FFF2-40B4-BE49-F238E27FC236}">
                <a16:creationId xmlns:a16="http://schemas.microsoft.com/office/drawing/2014/main" id="{034A5712-C4F1-47BB-B8B8-D2288B39B7DA}"/>
              </a:ext>
            </a:extLst>
          </p:cNvPr>
          <p:cNvSpPr>
            <a:spLocks noGrp="1"/>
          </p:cNvSpPr>
          <p:nvPr/>
        </p:nvSpPr>
        <p:spPr>
          <a:xfrm>
            <a:off x="685800" y="2705100"/>
            <a:ext cx="10572750" cy="19050"/>
          </a:xfrm>
          <a:prstGeom prst="rect">
            <a:avLst/>
          </a:prstGeom>
          <a:solidFill>
            <a:srgbClr val="D9D9D9"/>
          </a:solidFill>
          <a:ln w="0">
            <a:noFill/>
          </a:ln>
        </p:spPr>
        <p:txBody>
          <a:bodyPr/>
          <a:lstStyle/>
          <a:p>
            <a:endParaRPr lang="en-US"/>
          </a:p>
        </p:txBody>
      </p:sp>
      <p:sp>
        <p:nvSpPr>
          <p:cNvPr id="13" name="Rectangle 12">
            <a:extLst>
              <a:ext uri="{FF2B5EF4-FFF2-40B4-BE49-F238E27FC236}">
                <a16:creationId xmlns:a16="http://schemas.microsoft.com/office/drawing/2014/main" id="{5F3F12C8-3E99-41CB-A80B-1693FBD10898}"/>
              </a:ext>
            </a:extLst>
          </p:cNvPr>
          <p:cNvSpPr>
            <a:spLocks noGrp="1"/>
          </p:cNvSpPr>
          <p:nvPr/>
        </p:nvSpPr>
        <p:spPr>
          <a:xfrm>
            <a:off x="762000" y="2940000"/>
            <a:ext cx="5150000" cy="2900000"/>
          </a:xfrm>
          <a:prstGeom prst="rect">
            <a:avLst/>
          </a:prstGeom>
          <a:noFill/>
          <a:ln w="0">
            <a:noFill/>
          </a:ln>
        </p:spPr>
        <p:txBody>
          <a:bodyPr>
            <a:noAutofit/>
          </a:bodyPr>
          <a:lstStyle/>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Source:</a:t>
            </a:r>
            <a:r>
              <a:rPr sz="1500">
                <a:solidFill>
                  <a:srgbClr val="000000"/>
                </a:solidFill>
                <a:latin typeface="Calibri"/>
                <a:ea typeface="Calibri"/>
                <a:cs typeface="Calibri"/>
              </a:rPr>
              <a:t xml:space="preserve"> VOLARE (Cipollini et al. 2026), cleaned tick data, free</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Target:</a:t>
            </a:r>
            <a:r>
              <a:rPr sz="1500">
                <a:solidFill>
                  <a:srgbClr val="000000"/>
                </a:solidFill>
                <a:latin typeface="Calibri"/>
                <a:ea typeface="Calibri"/>
                <a:cs typeface="Calibri"/>
              </a:rPr>
              <a:t xml:space="preserve"> 5-min realized variance (+ quarticity, semivariances)</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Implied vol:</a:t>
            </a:r>
            <a:r>
              <a:rPr sz="1500">
                <a:solidFill>
                  <a:srgbClr val="000000"/>
                </a:solidFill>
                <a:latin typeface="Calibri"/>
                <a:ea typeface="Calibri"/>
                <a:cs typeface="Calibri"/>
              </a:rPr>
              <a:t xml:space="preserve"> 30-day ATM, LSEG Workspace (26 of 30 stocks)</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Macro:</a:t>
            </a:r>
            <a:r>
              <a:rPr sz="1500">
                <a:solidFill>
                  <a:srgbClr val="000000"/>
                </a:solidFill>
                <a:latin typeface="Calibri"/>
                <a:ea typeface="Calibri"/>
                <a:cs typeface="Calibri"/>
              </a:rPr>
              <a:t xml:space="preserve"> VIX, T-bill, EPU, ADS, Hang Seng</a:t>
            </a:r>
          </a:p>
          <a:p>
            <a:pPr marL="285750" indent="-285750">
              <a:spcAft>
                <a:spcPts val="1100"/>
              </a:spcAft>
              <a:buChar char="•"/>
              <a:defRPr sz="1500">
                <a:solidFill>
                  <a:srgbClr val="000000"/>
                </a:solidFill>
                <a:latin typeface="Calibri"/>
                <a:ea typeface="Calibri"/>
                <a:cs typeface="Calibri"/>
              </a:defRPr>
            </a:pPr>
            <a:r>
              <a:rPr sz="1500" b="1">
                <a:solidFill>
                  <a:srgbClr val="000000"/>
                </a:solidFill>
                <a:latin typeface="Calibri"/>
                <a:ea typeface="Calibri"/>
                <a:cs typeface="Calibri"/>
              </a:rPr>
              <a:t>Firm:</a:t>
            </a:r>
            <a:r>
              <a:rPr sz="1500">
                <a:solidFill>
                  <a:srgbClr val="000000"/>
                </a:solidFill>
                <a:latin typeface="Calibri"/>
                <a:ea typeface="Calibri"/>
                <a:cs typeface="Calibri"/>
              </a:rPr>
              <a:t xml:space="preserve"> 1-week momentum, dollar volume</a:t>
            </a:r>
          </a:p>
        </p:txBody>
      </p:sp>
      <p:pic>
        <p:nvPicPr>
          <p:cNvPr id="14" name="RV timeline"/>
          <p:cNvPicPr>
            <a:picLocks noChangeAspect="1"/>
          </p:cNvPicPr>
          <p:nvPr/>
        </p:nvPicPr>
        <p:blipFill>
          <a:blip r:embed="rId3"/>
          <a:stretch>
            <a:fillRect/>
          </a:stretch>
        </p:blipFill>
        <p:spPr>
          <a:xfrm>
            <a:off x="6050000" y="2900000"/>
            <a:ext cx="5530000" cy="2766627"/>
          </a:xfrm>
          <a:prstGeom prst="rect">
            <a:avLst/>
          </a:prstGeom>
        </p:spPr>
      </p:pic>
    </p:spTree>
    <p:extLst>
      <p:ext uri="{BB962C8B-B14F-4D97-AF65-F5344CB8AC3E}">
        <p14:creationId xmlns:p14="http://schemas.microsoft.com/office/powerpoint/2010/main" val="386881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39E811-63B3-42F0-AE5E-8DF020DDAB6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METHODOLOGY</a:t>
            </a:r>
          </a:p>
        </p:txBody>
      </p:sp>
      <p:sp>
        <p:nvSpPr>
          <p:cNvPr id="3" name="Rectangle 2">
            <a:extLst>
              <a:ext uri="{FF2B5EF4-FFF2-40B4-BE49-F238E27FC236}">
                <a16:creationId xmlns:a16="http://schemas.microsoft.com/office/drawing/2014/main" id="{AFBC4FE5-0DD4-47DE-BB3C-7998AB378882}"/>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DBDAE6EC-F6AC-4132-918A-A91BFD94C963}"/>
              </a:ext>
            </a:extLst>
          </p:cNvPr>
          <p:cNvSpPr>
            <a:spLocks noGrp="1"/>
          </p:cNvSpPr>
          <p:nvPr/>
        </p:nvSpPr>
        <p:spPr>
          <a:xfrm>
            <a:off x="609600" y="647700"/>
            <a:ext cx="10668000" cy="533400"/>
          </a:xfrm>
          <a:prstGeom prst="rect">
            <a:avLst/>
          </a:prstGeom>
          <a:noFill/>
          <a:ln w="0">
            <a:noFill/>
          </a:ln>
        </p:spPr>
        <p:txBody>
          <a:bodyPr anchor="t">
            <a:noAutofit/>
          </a:bodyPr>
          <a:lstStyle/>
          <a:p>
            <a:pPr>
              <a:defRPr sz="2700" b="1" i="0">
                <a:solidFill>
                  <a:srgbClr val="000000"/>
                </a:solidFill>
                <a:latin typeface="Calibri"/>
                <a:ea typeface="Calibri"/>
                <a:cs typeface="Calibri"/>
              </a:defRPr>
            </a:pPr>
            <a:r>
              <a:rPr lang="en-US" sz="2700" b="1">
                <a:solidFill>
                  <a:srgbClr val="C82B00"/>
                </a:solidFill>
                <a:latin typeface="Calibri"/>
              </a:rPr>
              <a:t>Heterogeneous Autoregressive Model (HAR)</a:t>
            </a:r>
            <a:endParaRPr sz="2700" b="1" i="0">
              <a:solidFill>
                <a:srgbClr val="000000"/>
              </a:solidFill>
              <a:latin typeface="Calibri"/>
              <a:ea typeface="Calibri"/>
              <a:cs typeface="Calibri"/>
            </a:endParaRPr>
          </a:p>
        </p:txBody>
      </p:sp>
      <p:sp>
        <p:nvSpPr>
          <p:cNvPr id="6" name="Rectangle 5">
            <a:extLst>
              <a:ext uri="{FF2B5EF4-FFF2-40B4-BE49-F238E27FC236}">
                <a16:creationId xmlns:a16="http://schemas.microsoft.com/office/drawing/2014/main" id="{B82BF4A0-C4B4-4476-9A79-A7B9545CD7CB}"/>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2590D399-D48F-4813-B4F3-2380F82DDDDF}"/>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sz="975" b="1" i="0">
                <a:solidFill>
                  <a:srgbClr val="5A5A5A"/>
                </a:solidFill>
                <a:latin typeface="Calibri"/>
                <a:ea typeface="Calibri"/>
                <a:cs typeface="Calibri"/>
              </a:rPr>
              <a:t>10</a:t>
            </a:r>
            <a:r>
              <a:rPr lang="de-DE" sz="975" b="1" i="0">
                <a:solidFill>
                  <a:srgbClr val="5A5A5A"/>
                </a:solidFill>
                <a:latin typeface="Calibri"/>
                <a:ea typeface="Calibri"/>
                <a:cs typeface="Calibri"/>
              </a:rPr>
              <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148A82DD-8577-4BB5-8737-319681524532}"/>
              </a:ext>
            </a:extLst>
          </p:cNvPr>
          <p:cNvSpPr>
            <a:spLocks noGrp="1"/>
          </p:cNvSpPr>
          <p:nvPr/>
        </p:nvSpPr>
        <p:spPr>
          <a:xfrm>
            <a:off x="666750" y="1466850"/>
            <a:ext cx="8572500" cy="361950"/>
          </a:xfrm>
          <a:prstGeom prst="rect">
            <a:avLst/>
          </a:prstGeom>
          <a:noFill/>
          <a:ln w="0">
            <a:noFill/>
          </a:ln>
        </p:spPr>
        <p:txBody>
          <a:bodyPr anchor="t">
            <a:noAutofit/>
          </a:bodyPr>
          <a:lstStyle/>
          <a:p>
            <a:pPr algn="l">
              <a:defRPr sz="1800" b="1" i="0">
                <a:solidFill>
                  <a:srgbClr val="C82B00"/>
                </a:solidFill>
                <a:latin typeface="Calibri"/>
                <a:ea typeface="Calibri"/>
                <a:cs typeface="Calibri"/>
              </a:defRPr>
            </a:pPr>
            <a:r>
              <a:rPr sz="1800" b="1" i="0">
                <a:solidFill>
                  <a:srgbClr val="C82B00"/>
                </a:solidFill>
                <a:latin typeface="Calibri"/>
                <a:ea typeface="Calibri"/>
                <a:cs typeface="Calibri"/>
              </a:rPr>
              <a:t>Minimal feature set M_HAR</a:t>
            </a:r>
            <a:r>
              <a:rPr lang="de-DE" sz="1800" b="1" i="0">
                <a:solidFill>
                  <a:srgbClr val="C82B00"/>
                </a:solidFill>
                <a:latin typeface="Calibri"/>
                <a:ea typeface="Calibri"/>
                <a:cs typeface="Calibri"/>
              </a:rPr>
              <a:t> = Benchmark Modell (BMM) </a:t>
            </a:r>
            <a:endParaRPr sz="1800" b="1" i="0">
              <a:solidFill>
                <a:srgbClr val="C82B00"/>
              </a:solidFill>
              <a:latin typeface="Calibri"/>
              <a:ea typeface="Calibri"/>
              <a:cs typeface="Calibri"/>
            </a:endParaRPr>
          </a:p>
        </p:txBody>
      </p:sp>
      <p:sp>
        <p:nvSpPr>
          <p:cNvPr id="14" name="Rectangle 13">
            <a:extLst>
              <a:ext uri="{FF2B5EF4-FFF2-40B4-BE49-F238E27FC236}">
                <a16:creationId xmlns:a16="http://schemas.microsoft.com/office/drawing/2014/main" id="{861D8DE0-F8BA-409C-AC9D-82A612DC062E}"/>
              </a:ext>
            </a:extLst>
          </p:cNvPr>
          <p:cNvSpPr>
            <a:spLocks noGrp="1"/>
          </p:cNvSpPr>
          <p:nvPr/>
        </p:nvSpPr>
        <p:spPr>
          <a:xfrm>
            <a:off x="704850" y="4889500"/>
            <a:ext cx="2686050" cy="2857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 </a:t>
            </a:r>
            <a:r>
              <a:rPr sz="1500" b="1" i="0">
                <a:solidFill>
                  <a:srgbClr val="5A5A5A"/>
                </a:solidFill>
                <a:latin typeface="Calibri"/>
                <a:ea typeface="Calibri"/>
                <a:cs typeface="Calibri"/>
              </a:rPr>
              <a:t>Benchmark</a:t>
            </a:r>
          </a:p>
        </p:txBody>
      </p:sp>
      <p:sp>
        <p:nvSpPr>
          <p:cNvPr id="15" name="Rectangle 14">
            <a:extLst>
              <a:ext uri="{FF2B5EF4-FFF2-40B4-BE49-F238E27FC236}">
                <a16:creationId xmlns:a16="http://schemas.microsoft.com/office/drawing/2014/main" id="{52101F22-7A9D-4DAD-AB64-91CB843ECF28}"/>
              </a:ext>
            </a:extLst>
          </p:cNvPr>
          <p:cNvSpPr>
            <a:spLocks noGrp="1"/>
          </p:cNvSpPr>
          <p:nvPr/>
        </p:nvSpPr>
        <p:spPr>
          <a:xfrm>
            <a:off x="704850" y="5270500"/>
            <a:ext cx="314325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HAR, </a:t>
            </a:r>
            <a:r>
              <a:rPr sz="1425" b="1" i="0" err="1">
                <a:solidFill>
                  <a:srgbClr val="000000"/>
                </a:solidFill>
                <a:latin typeface="Calibri"/>
                <a:ea typeface="Calibri"/>
                <a:cs typeface="Calibri"/>
              </a:rPr>
              <a:t>LogHAR</a:t>
            </a:r>
            <a:r>
              <a:rPr sz="1425" b="1" i="0">
                <a:solidFill>
                  <a:srgbClr val="000000"/>
                </a:solidFill>
                <a:latin typeface="Calibri"/>
                <a:ea typeface="Calibri"/>
                <a:cs typeface="Calibri"/>
              </a:rPr>
              <a:t>, </a:t>
            </a:r>
            <a:r>
              <a:rPr sz="1425" b="1" i="0" err="1">
                <a:solidFill>
                  <a:srgbClr val="000000"/>
                </a:solidFill>
                <a:latin typeface="Calibri"/>
                <a:ea typeface="Calibri"/>
                <a:cs typeface="Calibri"/>
              </a:rPr>
              <a:t>LevHAR</a:t>
            </a:r>
            <a:r>
              <a:rPr sz="1425" b="1" i="0">
                <a:solidFill>
                  <a:srgbClr val="000000"/>
                </a:solidFill>
                <a:latin typeface="Calibri"/>
                <a:ea typeface="Calibri"/>
                <a:cs typeface="Calibri"/>
              </a:rPr>
              <a:t>,</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SHAR, HARQ</a:t>
            </a:r>
          </a:p>
        </p:txBody>
      </p:sp>
      <p:sp>
        <p:nvSpPr>
          <p:cNvPr id="16" name="Rectangle 15">
            <a:extLst>
              <a:ext uri="{FF2B5EF4-FFF2-40B4-BE49-F238E27FC236}">
                <a16:creationId xmlns:a16="http://schemas.microsoft.com/office/drawing/2014/main" id="{A820A056-57EA-4F40-99C5-061ECE8CB830}"/>
              </a:ext>
            </a:extLst>
          </p:cNvPr>
          <p:cNvSpPr>
            <a:spLocks noGrp="1"/>
          </p:cNvSpPr>
          <p:nvPr/>
        </p:nvSpPr>
        <p:spPr>
          <a:xfrm>
            <a:off x="4286250" y="4889500"/>
            <a:ext cx="2819400" cy="3238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Level-II </a:t>
            </a:r>
            <a:r>
              <a:rPr sz="1500" b="1" i="0">
                <a:solidFill>
                  <a:srgbClr val="5A5A5A"/>
                </a:solidFill>
                <a:latin typeface="Calibri"/>
                <a:ea typeface="Calibri"/>
                <a:cs typeface="Calibri"/>
              </a:rPr>
              <a:t>Regularization</a:t>
            </a:r>
          </a:p>
        </p:txBody>
      </p:sp>
      <p:sp>
        <p:nvSpPr>
          <p:cNvPr id="17" name="Rectangle 16">
            <a:extLst>
              <a:ext uri="{FF2B5EF4-FFF2-40B4-BE49-F238E27FC236}">
                <a16:creationId xmlns:a16="http://schemas.microsoft.com/office/drawing/2014/main" id="{977E4EDB-A496-4AD6-9972-B542E14D1577}"/>
              </a:ext>
            </a:extLst>
          </p:cNvPr>
          <p:cNvSpPr>
            <a:spLocks noGrp="1"/>
          </p:cNvSpPr>
          <p:nvPr/>
        </p:nvSpPr>
        <p:spPr>
          <a:xfrm>
            <a:off x="4286250" y="5270500"/>
            <a:ext cx="266700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Ridge, Lasso,</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Elastic Net</a:t>
            </a:r>
          </a:p>
        </p:txBody>
      </p:sp>
      <p:sp>
        <p:nvSpPr>
          <p:cNvPr id="18" name="Rectangle 17">
            <a:extLst>
              <a:ext uri="{FF2B5EF4-FFF2-40B4-BE49-F238E27FC236}">
                <a16:creationId xmlns:a16="http://schemas.microsoft.com/office/drawing/2014/main" id="{D59321DB-F43C-496C-914E-D5DD72FE8754}"/>
              </a:ext>
            </a:extLst>
          </p:cNvPr>
          <p:cNvSpPr>
            <a:spLocks noGrp="1"/>
          </p:cNvSpPr>
          <p:nvPr/>
        </p:nvSpPr>
        <p:spPr>
          <a:xfrm>
            <a:off x="7524750" y="4889500"/>
            <a:ext cx="3295650" cy="133350"/>
          </a:xfrm>
          <a:prstGeom prst="rect">
            <a:avLst/>
          </a:prstGeom>
          <a:noFill/>
          <a:ln w="0">
            <a:noFill/>
          </a:ln>
        </p:spPr>
        <p:txBody>
          <a:bodyPr anchor="t">
            <a:noAutofit/>
          </a:bodyPr>
          <a:lstStyle/>
          <a:p>
            <a:pPr algn="l">
              <a:defRPr sz="1500" b="1" i="0">
                <a:solidFill>
                  <a:srgbClr val="5A5A5A"/>
                </a:solidFill>
                <a:latin typeface="Calibri"/>
                <a:ea typeface="Calibri"/>
                <a:cs typeface="Calibri"/>
              </a:defRPr>
            </a:pPr>
            <a:r>
              <a:rPr lang="de-DE" sz="1500" b="1" i="0">
                <a:solidFill>
                  <a:srgbClr val="5A5A5A"/>
                </a:solidFill>
                <a:latin typeface="Calibri"/>
                <a:ea typeface="Calibri"/>
                <a:cs typeface="Calibri"/>
              </a:rPr>
              <a:t>Level-III </a:t>
            </a:r>
            <a:r>
              <a:rPr sz="1500" b="1" i="0">
                <a:solidFill>
                  <a:srgbClr val="5A5A5A"/>
                </a:solidFill>
                <a:latin typeface="Calibri"/>
                <a:ea typeface="Calibri"/>
                <a:cs typeface="Calibri"/>
              </a:rPr>
              <a:t>Flexible ML models</a:t>
            </a:r>
          </a:p>
        </p:txBody>
      </p:sp>
      <p:sp>
        <p:nvSpPr>
          <p:cNvPr id="19" name="Rectangle 18">
            <a:extLst>
              <a:ext uri="{FF2B5EF4-FFF2-40B4-BE49-F238E27FC236}">
                <a16:creationId xmlns:a16="http://schemas.microsoft.com/office/drawing/2014/main" id="{6283154C-DD80-47F1-96E3-A55207462FD7}"/>
              </a:ext>
            </a:extLst>
          </p:cNvPr>
          <p:cNvSpPr>
            <a:spLocks noGrp="1"/>
          </p:cNvSpPr>
          <p:nvPr/>
        </p:nvSpPr>
        <p:spPr>
          <a:xfrm>
            <a:off x="7524750" y="5270500"/>
            <a:ext cx="3619500" cy="552450"/>
          </a:xfrm>
          <a:prstGeom prst="rect">
            <a:avLst/>
          </a:prstGeom>
          <a:noFill/>
          <a:ln w="0">
            <a:noFill/>
          </a:ln>
        </p:spPr>
        <p:txBody>
          <a:bodyPr anchor="t">
            <a:noAutofit/>
          </a:bodyPr>
          <a:lstStyle/>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Bagging, Random Forest,</a:t>
            </a:r>
          </a:p>
          <a:p>
            <a:pPr algn="l">
              <a:defRPr sz="1425" b="1" i="0">
                <a:solidFill>
                  <a:srgbClr val="000000"/>
                </a:solidFill>
                <a:latin typeface="Calibri"/>
                <a:ea typeface="Calibri"/>
                <a:cs typeface="Calibri"/>
              </a:defRPr>
            </a:pPr>
            <a:r>
              <a:rPr sz="1425" b="1" i="0">
                <a:solidFill>
                  <a:srgbClr val="000000"/>
                </a:solidFill>
                <a:latin typeface="Calibri"/>
                <a:ea typeface="Calibri"/>
                <a:cs typeface="Calibri"/>
              </a:rPr>
              <a:t>Boosting, Neural Networks</a:t>
            </a:r>
          </a:p>
        </p:txBody>
      </p:sp>
      <p:sp>
        <p:nvSpPr>
          <p:cNvPr id="23" name="Rectangle 22">
            <a:extLst>
              <a:ext uri="{FF2B5EF4-FFF2-40B4-BE49-F238E27FC236}">
                <a16:creationId xmlns:a16="http://schemas.microsoft.com/office/drawing/2014/main" id="{D804391F-9A86-8399-E6FF-35E3A758BE68}"/>
              </a:ext>
            </a:extLst>
          </p:cNvPr>
          <p:cNvSpPr/>
          <p:nvPr/>
        </p:nvSpPr>
        <p:spPr>
          <a:xfrm>
            <a:off x="12954000" y="-301252"/>
            <a:ext cx="5301951" cy="78161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a:t>Firstly we calc. returns for every day and square those &gt; realized volatility &gt; proxy for daily realized vola.</a:t>
            </a:r>
          </a:p>
          <a:p>
            <a:pPr marL="342900" indent="-342900">
              <a:buAutoNum type="arabicPeriod"/>
            </a:pPr>
            <a:r>
              <a:rPr lang="en-US" err="1"/>
              <a:t>Beide</a:t>
            </a:r>
            <a:r>
              <a:rPr lang="en-US"/>
              <a:t> Modelle </a:t>
            </a:r>
            <a:r>
              <a:rPr lang="en-US" err="1"/>
              <a:t>nutzen</a:t>
            </a:r>
            <a:r>
              <a:rPr lang="en-US"/>
              <a:t> die </a:t>
            </a:r>
            <a:r>
              <a:rPr lang="en-US" err="1"/>
              <a:t>Persistenz</a:t>
            </a:r>
            <a:r>
              <a:rPr lang="en-US"/>
              <a:t> der </a:t>
            </a:r>
            <a:r>
              <a:rPr lang="en-US" err="1"/>
              <a:t>Volatilität</a:t>
            </a:r>
            <a:r>
              <a:rPr lang="en-US"/>
              <a:t>. GARCH </a:t>
            </a:r>
            <a:r>
              <a:rPr lang="en-US" err="1"/>
              <a:t>bildet</a:t>
            </a:r>
            <a:r>
              <a:rPr lang="en-US"/>
              <a:t> </a:t>
            </a:r>
            <a:r>
              <a:rPr lang="en-US" err="1"/>
              <a:t>sie</a:t>
            </a:r>
            <a:r>
              <a:rPr lang="en-US"/>
              <a:t> </a:t>
            </a:r>
            <a:r>
              <a:rPr lang="en-US" err="1"/>
              <a:t>rekursiv</a:t>
            </a:r>
            <a:r>
              <a:rPr lang="en-US"/>
              <a:t> </a:t>
            </a:r>
            <a:r>
              <a:rPr lang="en-US" err="1"/>
              <a:t>über</a:t>
            </a:r>
            <a:r>
              <a:rPr lang="en-US"/>
              <a:t> </a:t>
            </a:r>
            <a:r>
              <a:rPr lang="en-US" err="1"/>
              <a:t>Renditeschocks</a:t>
            </a:r>
            <a:r>
              <a:rPr lang="en-US"/>
              <a:t> und </a:t>
            </a:r>
            <a:r>
              <a:rPr lang="en-US" err="1"/>
              <a:t>vergangene</a:t>
            </a:r>
            <a:r>
              <a:rPr lang="en-US"/>
              <a:t> </a:t>
            </a:r>
            <a:r>
              <a:rPr lang="en-US" err="1"/>
              <a:t>Varianz</a:t>
            </a:r>
            <a:r>
              <a:rPr lang="en-US"/>
              <a:t> ab; HAR </a:t>
            </a:r>
            <a:r>
              <a:rPr lang="en-US" err="1"/>
              <a:t>verwendet</a:t>
            </a:r>
            <a:r>
              <a:rPr lang="en-US"/>
              <a:t> </a:t>
            </a:r>
            <a:r>
              <a:rPr lang="en-US" err="1"/>
              <a:t>dafür</a:t>
            </a:r>
            <a:r>
              <a:rPr lang="en-US"/>
              <a:t> </a:t>
            </a:r>
            <a:r>
              <a:rPr lang="en-US" err="1"/>
              <a:t>direkt</a:t>
            </a:r>
            <a:r>
              <a:rPr lang="en-US"/>
              <a:t> </a:t>
            </a:r>
            <a:r>
              <a:rPr lang="en-US" err="1"/>
              <a:t>tägliche</a:t>
            </a:r>
            <a:r>
              <a:rPr lang="en-US"/>
              <a:t>, </a:t>
            </a:r>
            <a:r>
              <a:rPr lang="en-US" err="1"/>
              <a:t>wöchentliche</a:t>
            </a:r>
            <a:r>
              <a:rPr lang="en-US"/>
              <a:t> und </a:t>
            </a:r>
            <a:r>
              <a:rPr lang="en-US" err="1"/>
              <a:t>monatliche</a:t>
            </a:r>
            <a:r>
              <a:rPr lang="en-US"/>
              <a:t> Realized Variance.</a:t>
            </a:r>
          </a:p>
          <a:p>
            <a:pPr marL="342900" indent="-342900">
              <a:buAutoNum type="arabicPeriod"/>
            </a:pPr>
            <a:r>
              <a:rPr lang="en-US"/>
              <a:t>Why using HAR? Because it measures volatility intraday while GARCH only on a daily basis, if stock opens at 100 and closes at 100 GARCH reads info 0 </a:t>
            </a:r>
            <a:r>
              <a:rPr lang="en-US" err="1"/>
              <a:t>Volatitliy</a:t>
            </a:r>
            <a:r>
              <a:rPr lang="en-US"/>
              <a:t> / low Vola, but if intraday stock </a:t>
            </a:r>
            <a:r>
              <a:rPr lang="en-US" err="1"/>
              <a:t>spicked</a:t>
            </a:r>
            <a:r>
              <a:rPr lang="en-US"/>
              <a:t> from 100 to 120 and back to 100 it means high vola &gt; HAR catches that. You could use GARCH intraday but you would have to cumulate all intraday forecasts. </a:t>
            </a:r>
          </a:p>
          <a:p>
            <a:pPr marL="342900" indent="-342900">
              <a:buAutoNum type="arabicPeriod"/>
            </a:pPr>
            <a:r>
              <a:rPr lang="en-US"/>
              <a:t>For monthly and weekly data we calculate the daily variance over the last n days and use the average </a:t>
            </a:r>
          </a:p>
        </p:txBody>
      </p:sp>
      <p:pic>
        <p:nvPicPr>
          <p:cNvPr id="24" name="Picture 23">
            <a:extLst>
              <a:ext uri="{FF2B5EF4-FFF2-40B4-BE49-F238E27FC236}">
                <a16:creationId xmlns:a16="http://schemas.microsoft.com/office/drawing/2014/main" id="{3400BE19-47A0-6317-E05B-1904E866C34E}"/>
              </a:ext>
            </a:extLst>
          </p:cNvPr>
          <p:cNvPicPr>
            <a:picLocks noChangeAspect="1"/>
          </p:cNvPicPr>
          <p:nvPr/>
        </p:nvPicPr>
        <p:blipFill>
          <a:blip r:embed="rId3"/>
          <a:stretch>
            <a:fillRect/>
          </a:stretch>
        </p:blipFill>
        <p:spPr>
          <a:xfrm>
            <a:off x="16354425" y="6310312"/>
            <a:ext cx="1924050" cy="828675"/>
          </a:xfrm>
          <a:prstGeom prst="rect">
            <a:avLst/>
          </a:prstGeom>
        </p:spPr>
      </p:pic>
      <p:sp>
        <p:nvSpPr>
          <p:cNvPr id="25" name="Rectangle 24">
            <a:extLst>
              <a:ext uri="{FF2B5EF4-FFF2-40B4-BE49-F238E27FC236}">
                <a16:creationId xmlns:a16="http://schemas.microsoft.com/office/drawing/2014/main" id="{B3F6D699-11C2-2030-CB33-E4C9DEF11E49}"/>
              </a:ext>
            </a:extLst>
          </p:cNvPr>
          <p:cNvSpPr>
            <a:spLocks noGrp="1"/>
          </p:cNvSpPr>
          <p:nvPr/>
        </p:nvSpPr>
        <p:spPr>
          <a:xfrm>
            <a:off x="742950" y="2000250"/>
            <a:ext cx="10858500" cy="826753"/>
          </a:xfrm>
          <a:prstGeom prst="rect">
            <a:avLst/>
          </a:prstGeom>
          <a:noFill/>
          <a:ln w="0">
            <a:noFill/>
          </a:ln>
        </p:spPr>
        <p:txBody>
          <a:bodyPr>
            <a:noAutofit/>
          </a:bodyPr>
          <a:lstStyle/>
          <a:p>
            <a:pPr marL="228600" indent="-114300">
              <a:spcAft>
                <a:spcPts val="1200"/>
              </a:spcAft>
              <a:buChar char="•"/>
              <a:defRPr sz="1950">
                <a:solidFill>
                  <a:srgbClr val="000000"/>
                </a:solidFill>
                <a:latin typeface="Calibri"/>
                <a:ea typeface="Calibri"/>
                <a:cs typeface="Calibri"/>
              </a:defRPr>
            </a:pPr>
            <a:r>
              <a:rPr lang="de-DE" sz="1400">
                <a:solidFill>
                  <a:srgbClr val="000000"/>
                </a:solidFill>
                <a:ea typeface="Calibri"/>
                <a:cs typeface="Calibri"/>
              </a:rPr>
              <a:t>RV = </a:t>
            </a:r>
            <a:r>
              <a:rPr lang="de-DE" sz="1400" err="1">
                <a:solidFill>
                  <a:srgbClr val="000000"/>
                </a:solidFill>
                <a:ea typeface="Calibri"/>
                <a:cs typeface="Calibri"/>
              </a:rPr>
              <a:t>Realized</a:t>
            </a:r>
            <a:r>
              <a:rPr lang="de-DE" sz="1400">
                <a:solidFill>
                  <a:srgbClr val="000000"/>
                </a:solidFill>
                <a:ea typeface="Calibri"/>
                <a:cs typeface="Calibri"/>
              </a:rPr>
              <a:t> </a:t>
            </a:r>
            <a:r>
              <a:rPr lang="de-DE" sz="1400" err="1">
                <a:solidFill>
                  <a:srgbClr val="000000"/>
                </a:solidFill>
                <a:ea typeface="Calibri"/>
                <a:cs typeface="Calibri"/>
              </a:rPr>
              <a:t>Variance</a:t>
            </a:r>
            <a:r>
              <a:rPr lang="de-DE" sz="1400">
                <a:solidFill>
                  <a:srgbClr val="000000"/>
                </a:solidFill>
                <a:ea typeface="Calibri"/>
                <a:cs typeface="Calibri"/>
              </a:rPr>
              <a:t> </a:t>
            </a:r>
          </a:p>
          <a:p>
            <a:pPr marL="228600" indent="-114300">
              <a:spcAft>
                <a:spcPts val="1200"/>
              </a:spcAft>
              <a:buChar char="•"/>
              <a:defRPr sz="1950">
                <a:solidFill>
                  <a:srgbClr val="000000"/>
                </a:solidFill>
                <a:latin typeface="Calibri"/>
                <a:ea typeface="Calibri"/>
                <a:cs typeface="Calibri"/>
              </a:defRPr>
            </a:pPr>
            <a:r>
              <a:rPr sz="1400">
                <a:solidFill>
                  <a:srgbClr val="000000"/>
                </a:solidFill>
                <a:ea typeface="Calibri"/>
                <a:cs typeface="Calibri"/>
              </a:rPr>
              <a:t>RV lag: day</a:t>
            </a:r>
            <a:r>
              <a:rPr lang="de-DE" sz="1400">
                <a:solidFill>
                  <a:srgbClr val="000000"/>
                </a:solidFill>
                <a:ea typeface="Calibri"/>
                <a:cs typeface="Calibri"/>
              </a:rPr>
              <a:t> (1d), </a:t>
            </a:r>
            <a:r>
              <a:rPr sz="1400">
                <a:solidFill>
                  <a:srgbClr val="000000"/>
                </a:solidFill>
                <a:ea typeface="Calibri"/>
                <a:cs typeface="Calibri"/>
              </a:rPr>
              <a:t>RV average: week</a:t>
            </a:r>
            <a:r>
              <a:rPr lang="de-DE" sz="1400">
                <a:solidFill>
                  <a:srgbClr val="000000"/>
                </a:solidFill>
                <a:ea typeface="Calibri"/>
                <a:cs typeface="Calibri"/>
              </a:rPr>
              <a:t> (5d), </a:t>
            </a:r>
            <a:r>
              <a:rPr sz="1400">
                <a:solidFill>
                  <a:srgbClr val="000000"/>
                </a:solidFill>
                <a:ea typeface="Calibri"/>
                <a:cs typeface="Calibri"/>
              </a:rPr>
              <a:t>RV average: month</a:t>
            </a:r>
            <a:r>
              <a:rPr lang="de-DE" sz="1400">
                <a:solidFill>
                  <a:srgbClr val="000000"/>
                </a:solidFill>
                <a:ea typeface="Calibri"/>
                <a:cs typeface="Calibri"/>
              </a:rPr>
              <a:t> (22d)</a:t>
            </a:r>
            <a:endParaRPr sz="1400">
              <a:solidFill>
                <a:srgbClr val="000000"/>
              </a:solidFill>
              <a:ea typeface="Calibri"/>
              <a:cs typeface="Calibri"/>
            </a:endParaRPr>
          </a:p>
        </p:txBody>
      </p:sp>
      <p:pic>
        <p:nvPicPr>
          <p:cNvPr id="28" name="Picture 27">
            <a:extLst>
              <a:ext uri="{FF2B5EF4-FFF2-40B4-BE49-F238E27FC236}">
                <a16:creationId xmlns:a16="http://schemas.microsoft.com/office/drawing/2014/main" id="{B6CD6C78-66C0-7F1E-ABE6-5B11994AECE6}"/>
              </a:ext>
            </a:extLst>
          </p:cNvPr>
          <p:cNvPicPr>
            <a:picLocks noChangeAspect="1"/>
          </p:cNvPicPr>
          <p:nvPr/>
        </p:nvPicPr>
        <p:blipFill>
          <a:blip r:embed="rId4"/>
          <a:stretch>
            <a:fillRect/>
          </a:stretch>
        </p:blipFill>
        <p:spPr>
          <a:xfrm>
            <a:off x="742950" y="2750908"/>
            <a:ext cx="5800725" cy="668345"/>
          </a:xfrm>
          <a:prstGeom prst="rect">
            <a:avLst/>
          </a:prstGeom>
        </p:spPr>
      </p:pic>
      <p:pic>
        <p:nvPicPr>
          <p:cNvPr id="30" name="Picture 29">
            <a:extLst>
              <a:ext uri="{FF2B5EF4-FFF2-40B4-BE49-F238E27FC236}">
                <a16:creationId xmlns:a16="http://schemas.microsoft.com/office/drawing/2014/main" id="{8900D222-8BA9-FC62-A83E-71094367D1A1}"/>
              </a:ext>
            </a:extLst>
          </p:cNvPr>
          <p:cNvPicPr>
            <a:picLocks noChangeAspect="1"/>
          </p:cNvPicPr>
          <p:nvPr/>
        </p:nvPicPr>
        <p:blipFill>
          <a:blip r:embed="rId3"/>
          <a:stretch>
            <a:fillRect/>
          </a:stretch>
        </p:blipFill>
        <p:spPr>
          <a:xfrm>
            <a:off x="7896225" y="2750908"/>
            <a:ext cx="1581796" cy="651439"/>
          </a:xfrm>
          <a:prstGeom prst="rect">
            <a:avLst/>
          </a:prstGeom>
        </p:spPr>
      </p:pic>
      <p:sp>
        <p:nvSpPr>
          <p:cNvPr id="31" name="Rectangle 30">
            <a:extLst>
              <a:ext uri="{FF2B5EF4-FFF2-40B4-BE49-F238E27FC236}">
                <a16:creationId xmlns:a16="http://schemas.microsoft.com/office/drawing/2014/main" id="{002184FC-CD69-E0B8-3E1B-2C338C094717}"/>
              </a:ext>
            </a:extLst>
          </p:cNvPr>
          <p:cNvSpPr/>
          <p:nvPr/>
        </p:nvSpPr>
        <p:spPr>
          <a:xfrm>
            <a:off x="609600" y="3930650"/>
            <a:ext cx="10972800" cy="227965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2" name="TextBox 31">
            <a:extLst>
              <a:ext uri="{FF2B5EF4-FFF2-40B4-BE49-F238E27FC236}">
                <a16:creationId xmlns:a16="http://schemas.microsoft.com/office/drawing/2014/main" id="{2626CD98-1FA1-D0A3-12C2-265968C563A2}"/>
              </a:ext>
            </a:extLst>
          </p:cNvPr>
          <p:cNvSpPr txBox="1"/>
          <p:nvPr/>
        </p:nvSpPr>
        <p:spPr>
          <a:xfrm>
            <a:off x="2416629" y="4046577"/>
            <a:ext cx="7358742" cy="369332"/>
          </a:xfrm>
          <a:prstGeom prst="rect">
            <a:avLst/>
          </a:prstGeom>
          <a:noFill/>
          <a:ln>
            <a:solidFill>
              <a:schemeClr val="accent1"/>
            </a:solidFill>
          </a:ln>
        </p:spPr>
        <p:txBody>
          <a:bodyPr wrap="square" rtlCol="0">
            <a:spAutoFit/>
          </a:bodyPr>
          <a:lstStyle/>
          <a:p>
            <a:pPr algn="ctr"/>
            <a:r>
              <a:rPr lang="de-DE" i="1"/>
              <a:t>Model Level I-III</a:t>
            </a:r>
            <a:endParaRPr lang="en-US" i="1"/>
          </a:p>
        </p:txBody>
      </p:sp>
      <p:pic>
        <p:nvPicPr>
          <p:cNvPr id="35" name="Picture 34">
            <a:extLst>
              <a:ext uri="{FF2B5EF4-FFF2-40B4-BE49-F238E27FC236}">
                <a16:creationId xmlns:a16="http://schemas.microsoft.com/office/drawing/2014/main" id="{79D0B3F3-7F02-7D42-42F5-ADD499B1273A}"/>
              </a:ext>
            </a:extLst>
          </p:cNvPr>
          <p:cNvPicPr>
            <a:picLocks noChangeAspect="1"/>
          </p:cNvPicPr>
          <p:nvPr/>
        </p:nvPicPr>
        <p:blipFill>
          <a:blip r:embed="rId5"/>
          <a:stretch>
            <a:fillRect/>
          </a:stretch>
        </p:blipFill>
        <p:spPr>
          <a:xfrm>
            <a:off x="13433268" y="6320471"/>
            <a:ext cx="2191386" cy="828675"/>
          </a:xfrm>
          <a:prstGeom prst="rect">
            <a:avLst/>
          </a:prstGeom>
        </p:spPr>
      </p:pic>
    </p:spTree>
    <p:extLst>
      <p:ext uri="{BB962C8B-B14F-4D97-AF65-F5344CB8AC3E}">
        <p14:creationId xmlns:p14="http://schemas.microsoft.com/office/powerpoint/2010/main" val="3623235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A63416-81FB-44CC-BC70-B92A4FFEF340}"/>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3 / EVALUATION</a:t>
            </a:r>
          </a:p>
        </p:txBody>
      </p:sp>
      <p:sp>
        <p:nvSpPr>
          <p:cNvPr id="3" name="Rectangle 2">
            <a:extLst>
              <a:ext uri="{FF2B5EF4-FFF2-40B4-BE49-F238E27FC236}">
                <a16:creationId xmlns:a16="http://schemas.microsoft.com/office/drawing/2014/main" id="{224C81FF-1E84-403E-B2D0-4C37A4BF5ED4}"/>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Leo</a:t>
            </a:r>
          </a:p>
        </p:txBody>
      </p:sp>
      <p:sp>
        <p:nvSpPr>
          <p:cNvPr id="4" name="Rectangle 3">
            <a:extLst>
              <a:ext uri="{FF2B5EF4-FFF2-40B4-BE49-F238E27FC236}">
                <a16:creationId xmlns:a16="http://schemas.microsoft.com/office/drawing/2014/main" id="{11E24A88-6CCD-48B3-8E1F-A1F39DD35DE0}"/>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Out-of-sample design and tests</a:t>
            </a:r>
          </a:p>
        </p:txBody>
      </p:sp>
      <p:sp>
        <p:nvSpPr>
          <p:cNvPr id="6" name="Rectangle 5">
            <a:extLst>
              <a:ext uri="{FF2B5EF4-FFF2-40B4-BE49-F238E27FC236}">
                <a16:creationId xmlns:a16="http://schemas.microsoft.com/office/drawing/2014/main" id="{8E382AEE-855D-43E2-A844-F26A75DB4C8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434AB16-53C2-4B38-9E8D-D872BF8D8CDB}"/>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11</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92C9B971-2A6C-4981-A170-1A99CEDD641A}"/>
              </a:ext>
            </a:extLst>
          </p:cNvPr>
          <p:cNvSpPr>
            <a:spLocks noGrp="1"/>
          </p:cNvSpPr>
          <p:nvPr/>
        </p:nvSpPr>
        <p:spPr>
          <a:xfrm>
            <a:off x="685800"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1</a:t>
            </a:r>
          </a:p>
        </p:txBody>
      </p:sp>
      <p:sp>
        <p:nvSpPr>
          <p:cNvPr id="9" name="Rectangle 8">
            <a:extLst>
              <a:ext uri="{FF2B5EF4-FFF2-40B4-BE49-F238E27FC236}">
                <a16:creationId xmlns:a16="http://schemas.microsoft.com/office/drawing/2014/main" id="{2016A8A1-1CD2-4908-93CB-3C4561E37647}"/>
              </a:ext>
            </a:extLst>
          </p:cNvPr>
          <p:cNvSpPr>
            <a:spLocks noGrp="1"/>
          </p:cNvSpPr>
          <p:nvPr/>
        </p:nvSpPr>
        <p:spPr>
          <a:xfrm>
            <a:off x="1295400"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Training</a:t>
            </a:r>
          </a:p>
        </p:txBody>
      </p:sp>
      <p:sp>
        <p:nvSpPr>
          <p:cNvPr id="10" name="Rectangle 9">
            <a:extLst>
              <a:ext uri="{FF2B5EF4-FFF2-40B4-BE49-F238E27FC236}">
                <a16:creationId xmlns:a16="http://schemas.microsoft.com/office/drawing/2014/main" id="{93ACFBA8-D69E-4C0B-8BDC-CDCF760A8944}"/>
              </a:ext>
            </a:extLst>
          </p:cNvPr>
          <p:cNvSpPr>
            <a:spLocks noGrp="1"/>
          </p:cNvSpPr>
          <p:nvPr/>
        </p:nvSpPr>
        <p:spPr>
          <a:xfrm>
            <a:off x="1295400"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70% training</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10% validation</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20% test</a:t>
            </a:r>
          </a:p>
        </p:txBody>
      </p:sp>
      <p:sp>
        <p:nvSpPr>
          <p:cNvPr id="11" name="Rectangle 10">
            <a:extLst>
              <a:ext uri="{FF2B5EF4-FFF2-40B4-BE49-F238E27FC236}">
                <a16:creationId xmlns:a16="http://schemas.microsoft.com/office/drawing/2014/main" id="{AC6DBE6B-950D-4919-892D-AD788CED3FA6}"/>
              </a:ext>
            </a:extLst>
          </p:cNvPr>
          <p:cNvSpPr>
            <a:spLocks noGrp="1"/>
          </p:cNvSpPr>
          <p:nvPr/>
        </p:nvSpPr>
        <p:spPr>
          <a:xfrm>
            <a:off x="3162300" y="1790700"/>
            <a:ext cx="171450" cy="28575"/>
          </a:xfrm>
          <a:prstGeom prst="rect">
            <a:avLst/>
          </a:prstGeom>
          <a:solidFill>
            <a:srgbClr val="D9D9D9"/>
          </a:solidFill>
          <a:ln w="0">
            <a:noFill/>
          </a:ln>
        </p:spPr>
        <p:txBody>
          <a:bodyPr/>
          <a:lstStyle/>
          <a:p>
            <a:endParaRPr lang="en-US"/>
          </a:p>
        </p:txBody>
      </p:sp>
      <p:sp>
        <p:nvSpPr>
          <p:cNvPr id="12" name="Rectangle 11">
            <a:extLst>
              <a:ext uri="{FF2B5EF4-FFF2-40B4-BE49-F238E27FC236}">
                <a16:creationId xmlns:a16="http://schemas.microsoft.com/office/drawing/2014/main" id="{7C08F8CF-7B31-4AA2-9786-525FEF6D10CC}"/>
              </a:ext>
            </a:extLst>
          </p:cNvPr>
          <p:cNvSpPr>
            <a:spLocks noGrp="1"/>
          </p:cNvSpPr>
          <p:nvPr/>
        </p:nvSpPr>
        <p:spPr>
          <a:xfrm>
            <a:off x="3400425"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2</a:t>
            </a:r>
          </a:p>
        </p:txBody>
      </p:sp>
      <p:sp>
        <p:nvSpPr>
          <p:cNvPr id="13" name="Rectangle 12">
            <a:extLst>
              <a:ext uri="{FF2B5EF4-FFF2-40B4-BE49-F238E27FC236}">
                <a16:creationId xmlns:a16="http://schemas.microsoft.com/office/drawing/2014/main" id="{FD20ACA5-DD43-42FE-B9B1-DEEE78316AD3}"/>
              </a:ext>
            </a:extLst>
          </p:cNvPr>
          <p:cNvSpPr>
            <a:spLocks noGrp="1"/>
          </p:cNvSpPr>
          <p:nvPr/>
        </p:nvSpPr>
        <p:spPr>
          <a:xfrm>
            <a:off x="4010025"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Forecasts</a:t>
            </a:r>
          </a:p>
        </p:txBody>
      </p:sp>
      <p:sp>
        <p:nvSpPr>
          <p:cNvPr id="14" name="Rectangle 13">
            <a:extLst>
              <a:ext uri="{FF2B5EF4-FFF2-40B4-BE49-F238E27FC236}">
                <a16:creationId xmlns:a16="http://schemas.microsoft.com/office/drawing/2014/main" id="{CE7DB408-8251-41D6-A3B2-753A1E427C54}"/>
              </a:ext>
            </a:extLst>
          </p:cNvPr>
          <p:cNvSpPr>
            <a:spLocks noGrp="1"/>
          </p:cNvSpPr>
          <p:nvPr/>
        </p:nvSpPr>
        <p:spPr>
          <a:xfrm>
            <a:off x="4010025"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Avg. RV over</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1, 5, 22 days</a:t>
            </a:r>
          </a:p>
        </p:txBody>
      </p:sp>
      <p:sp>
        <p:nvSpPr>
          <p:cNvPr id="15" name="Rectangle 14">
            <a:extLst>
              <a:ext uri="{FF2B5EF4-FFF2-40B4-BE49-F238E27FC236}">
                <a16:creationId xmlns:a16="http://schemas.microsoft.com/office/drawing/2014/main" id="{CDE74462-C0F7-4E59-AADA-98ED71DF12BE}"/>
              </a:ext>
            </a:extLst>
          </p:cNvPr>
          <p:cNvSpPr>
            <a:spLocks noGrp="1"/>
          </p:cNvSpPr>
          <p:nvPr/>
        </p:nvSpPr>
        <p:spPr>
          <a:xfrm>
            <a:off x="5876925" y="1790700"/>
            <a:ext cx="171450" cy="28575"/>
          </a:xfrm>
          <a:prstGeom prst="rect">
            <a:avLst/>
          </a:prstGeom>
          <a:solidFill>
            <a:srgbClr val="D9D9D9"/>
          </a:solidFill>
          <a:ln w="0">
            <a:noFill/>
          </a:ln>
        </p:spPr>
        <p:txBody>
          <a:bodyPr/>
          <a:lstStyle/>
          <a:p>
            <a:endParaRPr lang="en-US"/>
          </a:p>
        </p:txBody>
      </p:sp>
      <p:sp>
        <p:nvSpPr>
          <p:cNvPr id="16" name="Rectangle 15">
            <a:extLst>
              <a:ext uri="{FF2B5EF4-FFF2-40B4-BE49-F238E27FC236}">
                <a16:creationId xmlns:a16="http://schemas.microsoft.com/office/drawing/2014/main" id="{026BAF06-6731-4379-8292-A4DAC6D2BEA4}"/>
              </a:ext>
            </a:extLst>
          </p:cNvPr>
          <p:cNvSpPr>
            <a:spLocks noGrp="1"/>
          </p:cNvSpPr>
          <p:nvPr/>
        </p:nvSpPr>
        <p:spPr>
          <a:xfrm>
            <a:off x="6115050"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3</a:t>
            </a:r>
          </a:p>
        </p:txBody>
      </p:sp>
      <p:sp>
        <p:nvSpPr>
          <p:cNvPr id="17" name="Rectangle 16">
            <a:extLst>
              <a:ext uri="{FF2B5EF4-FFF2-40B4-BE49-F238E27FC236}">
                <a16:creationId xmlns:a16="http://schemas.microsoft.com/office/drawing/2014/main" id="{D688C5B2-92A7-4E06-909C-C7C872819259}"/>
              </a:ext>
            </a:extLst>
          </p:cNvPr>
          <p:cNvSpPr>
            <a:spLocks noGrp="1"/>
          </p:cNvSpPr>
          <p:nvPr/>
        </p:nvSpPr>
        <p:spPr>
          <a:xfrm>
            <a:off x="6724650"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MSE</a:t>
            </a:r>
          </a:p>
        </p:txBody>
      </p:sp>
      <p:sp>
        <p:nvSpPr>
          <p:cNvPr id="18" name="Rectangle 17">
            <a:extLst>
              <a:ext uri="{FF2B5EF4-FFF2-40B4-BE49-F238E27FC236}">
                <a16:creationId xmlns:a16="http://schemas.microsoft.com/office/drawing/2014/main" id="{F405674F-85CC-46AF-A122-04958E7C522C}"/>
              </a:ext>
            </a:extLst>
          </p:cNvPr>
          <p:cNvSpPr>
            <a:spLocks noGrp="1"/>
          </p:cNvSpPr>
          <p:nvPr/>
        </p:nvSpPr>
        <p:spPr>
          <a:xfrm>
            <a:off x="6724650"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Relative MSE</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versus HAR</a:t>
            </a:r>
          </a:p>
        </p:txBody>
      </p:sp>
      <p:sp>
        <p:nvSpPr>
          <p:cNvPr id="19" name="Rectangle 18">
            <a:extLst>
              <a:ext uri="{FF2B5EF4-FFF2-40B4-BE49-F238E27FC236}">
                <a16:creationId xmlns:a16="http://schemas.microsoft.com/office/drawing/2014/main" id="{92253E0B-B497-4016-983A-1D43B2979334}"/>
              </a:ext>
            </a:extLst>
          </p:cNvPr>
          <p:cNvSpPr>
            <a:spLocks noGrp="1"/>
          </p:cNvSpPr>
          <p:nvPr/>
        </p:nvSpPr>
        <p:spPr>
          <a:xfrm>
            <a:off x="8591550" y="1790700"/>
            <a:ext cx="171450" cy="28575"/>
          </a:xfrm>
          <a:prstGeom prst="rect">
            <a:avLst/>
          </a:prstGeom>
          <a:solidFill>
            <a:srgbClr val="D9D9D9"/>
          </a:solidFill>
          <a:ln w="0">
            <a:noFill/>
          </a:ln>
        </p:spPr>
        <p:txBody>
          <a:bodyPr/>
          <a:lstStyle/>
          <a:p>
            <a:endParaRPr lang="en-US"/>
          </a:p>
        </p:txBody>
      </p:sp>
      <p:sp>
        <p:nvSpPr>
          <p:cNvPr id="20" name="Rectangle 19">
            <a:extLst>
              <a:ext uri="{FF2B5EF4-FFF2-40B4-BE49-F238E27FC236}">
                <a16:creationId xmlns:a16="http://schemas.microsoft.com/office/drawing/2014/main" id="{7A469509-A1EA-4C77-A0EE-647B820D0230}"/>
              </a:ext>
            </a:extLst>
          </p:cNvPr>
          <p:cNvSpPr>
            <a:spLocks noGrp="1"/>
          </p:cNvSpPr>
          <p:nvPr/>
        </p:nvSpPr>
        <p:spPr>
          <a:xfrm>
            <a:off x="8829675" y="1562100"/>
            <a:ext cx="495300" cy="495300"/>
          </a:xfrm>
          <a:prstGeom prst="rect">
            <a:avLst/>
          </a:prstGeom>
          <a:solidFill>
            <a:srgbClr val="C82B00"/>
          </a:solidFill>
          <a:ln w="0">
            <a:noFill/>
          </a:ln>
        </p:spPr>
        <p:txBody>
          <a:bodyPr anchor="ctr">
            <a:noAutofit/>
          </a:bodyPr>
          <a:lstStyle/>
          <a:p>
            <a:pPr algn="ctr">
              <a:defRPr sz="2400" b="1" i="0">
                <a:solidFill>
                  <a:srgbClr val="FFFFFF"/>
                </a:solidFill>
                <a:latin typeface="Calibri"/>
                <a:ea typeface="Calibri"/>
                <a:cs typeface="Calibri"/>
              </a:defRPr>
            </a:pPr>
            <a:r>
              <a:rPr sz="2400" b="1" i="0">
                <a:solidFill>
                  <a:srgbClr val="FFFFFF"/>
                </a:solidFill>
                <a:latin typeface="Calibri"/>
                <a:ea typeface="Calibri"/>
                <a:cs typeface="Calibri"/>
              </a:rPr>
              <a:t>4</a:t>
            </a:r>
          </a:p>
        </p:txBody>
      </p:sp>
      <p:sp>
        <p:nvSpPr>
          <p:cNvPr id="21" name="Rectangle 20">
            <a:extLst>
              <a:ext uri="{FF2B5EF4-FFF2-40B4-BE49-F238E27FC236}">
                <a16:creationId xmlns:a16="http://schemas.microsoft.com/office/drawing/2014/main" id="{3CE6744B-7A84-462F-B1C1-48686F70C5F9}"/>
              </a:ext>
            </a:extLst>
          </p:cNvPr>
          <p:cNvSpPr>
            <a:spLocks noGrp="1"/>
          </p:cNvSpPr>
          <p:nvPr/>
        </p:nvSpPr>
        <p:spPr>
          <a:xfrm>
            <a:off x="9439275" y="1581150"/>
            <a:ext cx="1809750" cy="323850"/>
          </a:xfrm>
          <a:prstGeom prst="rect">
            <a:avLst/>
          </a:prstGeom>
          <a:noFill/>
          <a:ln w="0">
            <a:noFill/>
          </a:ln>
        </p:spPr>
        <p:txBody>
          <a:bodyPr anchor="t">
            <a:noAutofit/>
          </a:bodyPr>
          <a:lstStyle/>
          <a:p>
            <a:pPr algn="l">
              <a:defRPr sz="1575" b="1" i="0">
                <a:solidFill>
                  <a:srgbClr val="000000"/>
                </a:solidFill>
                <a:latin typeface="Calibri"/>
                <a:ea typeface="Calibri"/>
                <a:cs typeface="Calibri"/>
              </a:defRPr>
            </a:pPr>
            <a:r>
              <a:rPr sz="1575" b="1" i="0">
                <a:solidFill>
                  <a:srgbClr val="000000"/>
                </a:solidFill>
                <a:latin typeface="Calibri"/>
                <a:ea typeface="Calibri"/>
                <a:cs typeface="Calibri"/>
              </a:rPr>
              <a:t>DM + QLIKE</a:t>
            </a:r>
          </a:p>
        </p:txBody>
      </p:sp>
      <p:sp>
        <p:nvSpPr>
          <p:cNvPr id="22" name="Rectangle 21">
            <a:extLst>
              <a:ext uri="{FF2B5EF4-FFF2-40B4-BE49-F238E27FC236}">
                <a16:creationId xmlns:a16="http://schemas.microsoft.com/office/drawing/2014/main" id="{210FA246-5295-49A2-8273-7AF81BD99D5F}"/>
              </a:ext>
            </a:extLst>
          </p:cNvPr>
          <p:cNvSpPr>
            <a:spLocks noGrp="1"/>
          </p:cNvSpPr>
          <p:nvPr/>
        </p:nvSpPr>
        <p:spPr>
          <a:xfrm>
            <a:off x="9439275" y="2019300"/>
            <a:ext cx="1809750" cy="685800"/>
          </a:xfrm>
          <a:prstGeom prst="rect">
            <a:avLst/>
          </a:prstGeom>
          <a:noFill/>
          <a:ln w="0">
            <a:noFill/>
          </a:ln>
        </p:spPr>
        <p:txBody>
          <a:bodyPr anchor="t">
            <a:noAutofit/>
          </a:bodyPr>
          <a:lstStyle/>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DM tests</a:t>
            </a:r>
          </a:p>
          <a:p>
            <a:pPr algn="l">
              <a:defRPr sz="1350" b="0" i="0">
                <a:solidFill>
                  <a:srgbClr val="5A5A5A"/>
                </a:solidFill>
                <a:latin typeface="Calibri"/>
                <a:ea typeface="Calibri"/>
                <a:cs typeface="Calibri"/>
              </a:defRPr>
            </a:pPr>
            <a:r>
              <a:rPr sz="1350" b="0" i="0">
                <a:solidFill>
                  <a:srgbClr val="5A5A5A"/>
                </a:solidFill>
                <a:latin typeface="Calibri"/>
                <a:ea typeface="Calibri"/>
                <a:cs typeface="Calibri"/>
              </a:rPr>
              <a:t>QLIKE as check</a:t>
            </a:r>
          </a:p>
        </p:txBody>
      </p:sp>
      <p:sp>
        <p:nvSpPr>
          <p:cNvPr id="23" name="Rectangle 22">
            <a:extLst>
              <a:ext uri="{FF2B5EF4-FFF2-40B4-BE49-F238E27FC236}">
                <a16:creationId xmlns:a16="http://schemas.microsoft.com/office/drawing/2014/main" id="{2B625D05-FE54-436B-9D47-91E40EFFC4DD}"/>
              </a:ext>
            </a:extLst>
          </p:cNvPr>
          <p:cNvSpPr>
            <a:spLocks noGrp="1"/>
          </p:cNvSpPr>
          <p:nvPr/>
        </p:nvSpPr>
        <p:spPr>
          <a:xfrm>
            <a:off x="685800" y="3028950"/>
            <a:ext cx="10572750" cy="19050"/>
          </a:xfrm>
          <a:prstGeom prst="rect">
            <a:avLst/>
          </a:prstGeom>
          <a:solidFill>
            <a:srgbClr val="D9D9D9"/>
          </a:solidFill>
          <a:ln w="0">
            <a:noFill/>
          </a:ln>
        </p:spPr>
        <p:txBody>
          <a:bodyPr/>
          <a:lstStyle/>
          <a:p>
            <a:endParaRPr lang="en-US"/>
          </a:p>
        </p:txBody>
      </p:sp>
      <p:sp>
        <p:nvSpPr>
          <p:cNvPr id="24" name="Rectangle 23">
            <a:extLst>
              <a:ext uri="{FF2B5EF4-FFF2-40B4-BE49-F238E27FC236}">
                <a16:creationId xmlns:a16="http://schemas.microsoft.com/office/drawing/2014/main" id="{1AD287D4-45AE-4DCD-845D-F972718DA2BB}"/>
              </a:ext>
            </a:extLst>
          </p:cNvPr>
          <p:cNvSpPr>
            <a:spLocks noGrp="1"/>
          </p:cNvSpPr>
          <p:nvPr/>
        </p:nvSpPr>
        <p:spPr>
          <a:xfrm>
            <a:off x="723900" y="3352800"/>
            <a:ext cx="4953000" cy="342900"/>
          </a:xfrm>
          <a:prstGeom prst="rect">
            <a:avLst/>
          </a:prstGeom>
          <a:noFill/>
          <a:ln w="0">
            <a:noFill/>
          </a:ln>
        </p:spPr>
        <p:txBody>
          <a:bodyPr anchor="t">
            <a:noAutofit/>
          </a:bodyPr>
          <a:lstStyle/>
          <a:p>
            <a:pPr algn="l">
              <a:defRPr sz="1650" b="1" i="0">
                <a:solidFill>
                  <a:srgbClr val="C82B00"/>
                </a:solidFill>
                <a:latin typeface="Calibri"/>
                <a:ea typeface="Calibri"/>
                <a:cs typeface="Calibri"/>
              </a:defRPr>
            </a:pPr>
            <a:r>
              <a:rPr sz="1650" b="1" i="0">
                <a:solidFill>
                  <a:srgbClr val="C82B00"/>
                </a:solidFill>
                <a:latin typeface="Calibri"/>
                <a:ea typeface="Calibri"/>
                <a:cs typeface="Calibri"/>
              </a:rPr>
              <a:t>Three sample splits: where does COVID sit?</a:t>
            </a:r>
          </a:p>
        </p:txBody>
      </p:sp>
      <p:sp>
        <p:nvSpPr>
          <p:cNvPr id="25" name="Rectangle 24">
            <a:extLst>
              <a:ext uri="{FF2B5EF4-FFF2-40B4-BE49-F238E27FC236}">
                <a16:creationId xmlns:a16="http://schemas.microsoft.com/office/drawing/2014/main" id="{9A9B8C9C-925B-4148-B543-BD2DEF20E66F}"/>
              </a:ext>
            </a:extLst>
          </p:cNvPr>
          <p:cNvSpPr>
            <a:spLocks noGrp="1"/>
          </p:cNvSpPr>
          <p:nvPr/>
        </p:nvSpPr>
        <p:spPr>
          <a:xfrm>
            <a:off x="8050000" y="3800000"/>
            <a:ext cx="3530000" cy="2350000"/>
          </a:xfrm>
          <a:prstGeom prst="rect">
            <a:avLst/>
          </a:prstGeom>
          <a:noFill/>
          <a:ln w="0">
            <a:noFill/>
          </a:ln>
        </p:spPr>
        <p:txBody>
          <a:bodyPr>
            <a:noAutofit/>
          </a:bodyPr>
          <a:lstStyle/>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Rolling re-estimation:</a:t>
            </a:r>
            <a:r>
              <a:rPr sz="1350">
                <a:solidFill>
                  <a:srgbClr val="000000"/>
                </a:solidFill>
                <a:latin typeface="Calibri"/>
                <a:ea typeface="Calibri"/>
                <a:cs typeface="Calibri"/>
              </a:rPr>
              <a:t xml:space="preserve"> OLS daily, regularized every 22 days, trees every 63 days</a:t>
            </a:r>
          </a:p>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Neural nets:</a:t>
            </a:r>
            <a:r>
              <a:rPr sz="1350">
                <a:solidFill>
                  <a:srgbClr val="000000"/>
                </a:solidFill>
                <a:latin typeface="Calibri"/>
                <a:ea typeface="Calibri"/>
                <a:cs typeface="Calibri"/>
              </a:rPr>
              <a:t xml:space="preserve"> trained once, ensemble of best 5 of 10 seeds</a:t>
            </a:r>
          </a:p>
          <a:p>
            <a:pPr marL="285750" indent="-285750">
              <a:spcAft>
                <a:spcPts val="800"/>
              </a:spcAft>
              <a:buChar char="•"/>
              <a:defRPr sz="1350">
                <a:solidFill>
                  <a:srgbClr val="000000"/>
                </a:solidFill>
                <a:latin typeface="Calibri"/>
                <a:ea typeface="Calibri"/>
                <a:cs typeface="Calibri"/>
              </a:defRPr>
            </a:pPr>
            <a:r>
              <a:rPr sz="1350" b="1">
                <a:solidFill>
                  <a:srgbClr val="000000"/>
                </a:solidFill>
                <a:latin typeface="Calibri"/>
                <a:ea typeface="Calibri"/>
                <a:cs typeface="Calibri"/>
              </a:rPr>
              <a:t>No look-ahead:</a:t>
            </a:r>
            <a:r>
              <a:rPr sz="1350">
                <a:solidFill>
                  <a:srgbClr val="000000"/>
                </a:solidFill>
                <a:latin typeface="Calibri"/>
                <a:ea typeface="Calibri"/>
                <a:cs typeface="Calibri"/>
              </a:rPr>
              <a:t xml:space="preserve"> only targets realized by the forecast day enter training</a:t>
            </a:r>
          </a:p>
        </p:txBody>
      </p:sp>
      <p:sp>
        <p:nvSpPr>
          <p:cNvPr id="29" name="Rectangle 28">
            <a:extLst>
              <a:ext uri="{FF2B5EF4-FFF2-40B4-BE49-F238E27FC236}">
                <a16:creationId xmlns:a16="http://schemas.microsoft.com/office/drawing/2014/main" id="{9AB5D741-6204-CBFB-FA32-38B8B2ECA1CD}"/>
              </a:ext>
            </a:extLst>
          </p:cNvPr>
          <p:cNvSpPr/>
          <p:nvPr/>
        </p:nvSpPr>
        <p:spPr>
          <a:xfrm>
            <a:off x="12496800" y="-368300"/>
            <a:ext cx="3594100" cy="7975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82C16C43-83CC-4BC2-2890-1499DC317F74}"/>
              </a:ext>
            </a:extLst>
          </p:cNvPr>
          <p:cNvPicPr>
            <a:picLocks noChangeAspect="1"/>
          </p:cNvPicPr>
          <p:nvPr/>
        </p:nvPicPr>
        <p:blipFill>
          <a:blip r:embed="rId3"/>
          <a:stretch>
            <a:fillRect/>
          </a:stretch>
        </p:blipFill>
        <p:spPr>
          <a:xfrm>
            <a:off x="12515850" y="0"/>
            <a:ext cx="4938188" cy="2911092"/>
          </a:xfrm>
          <a:prstGeom prst="rect">
            <a:avLst/>
          </a:prstGeom>
        </p:spPr>
      </p:pic>
      <p:pic>
        <p:nvPicPr>
          <p:cNvPr id="32" name="Split scenarios"/>
          <p:cNvPicPr>
            <a:picLocks noChangeAspect="1"/>
          </p:cNvPicPr>
          <p:nvPr/>
        </p:nvPicPr>
        <p:blipFill>
          <a:blip r:embed="rId4"/>
          <a:stretch>
            <a:fillRect/>
          </a:stretch>
        </p:blipFill>
        <p:spPr>
          <a:xfrm>
            <a:off x="700000" y="3780000"/>
            <a:ext cx="5747291" cy="2450000"/>
          </a:xfrm>
          <a:prstGeom prst="rect">
            <a:avLst/>
          </a:prstGeom>
        </p:spPr>
      </p:pic>
    </p:spTree>
    <p:extLst>
      <p:ext uri="{BB962C8B-B14F-4D97-AF65-F5344CB8AC3E}">
        <p14:creationId xmlns:p14="http://schemas.microsoft.com/office/powerpoint/2010/main" val="3176821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CB4FD-1062-E892-0146-6DB4A676CA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7638F8-8106-ED3E-E7A0-894AD444B10E}"/>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2 / PAPER RESULTS</a:t>
            </a:r>
          </a:p>
        </p:txBody>
      </p:sp>
      <p:sp>
        <p:nvSpPr>
          <p:cNvPr id="3" name="Rectangle 2">
            <a:extLst>
              <a:ext uri="{FF2B5EF4-FFF2-40B4-BE49-F238E27FC236}">
                <a16:creationId xmlns:a16="http://schemas.microsoft.com/office/drawing/2014/main" id="{FD3E09E9-7654-0E58-15C1-364D7D3FC64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Adrian</a:t>
            </a:r>
          </a:p>
        </p:txBody>
      </p:sp>
      <p:sp>
        <p:nvSpPr>
          <p:cNvPr id="6" name="Rectangle 5">
            <a:extLst>
              <a:ext uri="{FF2B5EF4-FFF2-40B4-BE49-F238E27FC236}">
                <a16:creationId xmlns:a16="http://schemas.microsoft.com/office/drawing/2014/main" id="{08D4E617-D7FB-C1D4-344F-87E527FE3DF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9C582F16-886D-EE29-1BFE-2F894E622024}"/>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06</a:t>
            </a:r>
            <a:endParaRPr sz="975" b="1" i="0">
              <a:solidFill>
                <a:srgbClr val="5A5A5A"/>
              </a:solidFill>
              <a:latin typeface="Calibri"/>
              <a:ea typeface="Calibri"/>
              <a:cs typeface="Calibri"/>
            </a:endParaRPr>
          </a:p>
        </p:txBody>
      </p:sp>
      <p:sp>
        <p:nvSpPr>
          <p:cNvPr id="8" name="Text 1">
            <a:extLst>
              <a:ext uri="{FF2B5EF4-FFF2-40B4-BE49-F238E27FC236}">
                <a16:creationId xmlns:a16="http://schemas.microsoft.com/office/drawing/2014/main" id="{4855C5C5-F8AD-FD45-EB35-B492E3366AB0}"/>
              </a:ext>
            </a:extLst>
          </p:cNvPr>
          <p:cNvSpPr txBox="1"/>
          <p:nvPr/>
        </p:nvSpPr>
        <p:spPr>
          <a:xfrm>
            <a:off x="815340" y="766876"/>
            <a:ext cx="8229600" cy="685800"/>
          </a:xfrm>
          <a:prstGeom prst="rect">
            <a:avLst/>
          </a:prstGeom>
          <a:noFill/>
          <a:ln/>
        </p:spPr>
        <p:txBody>
          <a:bodyPr wrap="square" lIns="0" tIns="0" rIns="0" bIns="0" rtlCol="0" anchor="t"/>
          <a:lstStyle/>
          <a:p>
            <a:pPr marL="0" indent="0">
              <a:buNone/>
            </a:pPr>
            <a:r>
              <a:rPr lang="en-US" sz="2200" b="1">
                <a:solidFill>
                  <a:srgbClr val="000000"/>
                </a:solidFill>
                <a:latin typeface="Calibri" pitchFamily="34" charset="0"/>
                <a:ea typeface="Calibri" pitchFamily="34" charset="-122"/>
                <a:cs typeface="Calibri" pitchFamily="34" charset="-120"/>
              </a:rPr>
              <a:t>At longer horizons the ML edge grows, and random forest takes the lead</a:t>
            </a:r>
            <a:endParaRPr lang="en-US" sz="2200"/>
          </a:p>
        </p:txBody>
      </p:sp>
      <p:graphicFrame>
        <p:nvGraphicFramePr>
          <p:cNvPr id="12" name="Chart 0">
            <a:extLst>
              <a:ext uri="{FF2B5EF4-FFF2-40B4-BE49-F238E27FC236}">
                <a16:creationId xmlns:a16="http://schemas.microsoft.com/office/drawing/2014/main" id="{FB531F02-FB38-ED55-B35A-B7C7C154413F}"/>
              </a:ext>
            </a:extLst>
          </p:cNvPr>
          <p:cNvGraphicFramePr/>
          <p:nvPr/>
        </p:nvGraphicFramePr>
        <p:xfrm>
          <a:off x="1038225" y="1826895"/>
          <a:ext cx="4939242" cy="4235768"/>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3">
            <a:extLst>
              <a:ext uri="{FF2B5EF4-FFF2-40B4-BE49-F238E27FC236}">
                <a16:creationId xmlns:a16="http://schemas.microsoft.com/office/drawing/2014/main" id="{69F18128-5544-9FAF-C24C-54E2C1449005}"/>
              </a:ext>
            </a:extLst>
          </p:cNvPr>
          <p:cNvSpPr txBox="1"/>
          <p:nvPr/>
        </p:nvSpPr>
        <p:spPr>
          <a:xfrm>
            <a:off x="6750473" y="1826895"/>
            <a:ext cx="3657600" cy="228600"/>
          </a:xfrm>
          <a:prstGeom prst="rect">
            <a:avLst/>
          </a:prstGeom>
          <a:noFill/>
          <a:ln/>
        </p:spPr>
        <p:txBody>
          <a:bodyPr wrap="square" lIns="0" tIns="0" rIns="0" bIns="0" rtlCol="0" anchor="ctr"/>
          <a:lstStyle/>
          <a:p>
            <a:pPr marL="0" indent="0">
              <a:buNone/>
            </a:pPr>
            <a:r>
              <a:rPr lang="en-US" sz="1000" b="1">
                <a:solidFill>
                  <a:srgbClr val="5A5A5A"/>
                </a:solidFill>
                <a:latin typeface="Calibri" pitchFamily="34" charset="0"/>
                <a:ea typeface="Calibri" pitchFamily="34" charset="-122"/>
                <a:cs typeface="Calibri" pitchFamily="34" charset="-120"/>
              </a:rPr>
              <a:t>Fig. 8 · ACF of fitted RV (left 1-day, right 1-month)</a:t>
            </a:r>
            <a:endParaRPr lang="en-US" sz="1000"/>
          </a:p>
        </p:txBody>
      </p:sp>
      <p:pic>
        <p:nvPicPr>
          <p:cNvPr id="20" name="Image 0" descr="/home/claude/figs/fig8.png">
            <a:extLst>
              <a:ext uri="{FF2B5EF4-FFF2-40B4-BE49-F238E27FC236}">
                <a16:creationId xmlns:a16="http://schemas.microsoft.com/office/drawing/2014/main" id="{9F391A9D-F440-291A-896E-3258299E1E41}"/>
              </a:ext>
            </a:extLst>
          </p:cNvPr>
          <p:cNvPicPr>
            <a:picLocks noChangeAspect="1"/>
          </p:cNvPicPr>
          <p:nvPr/>
        </p:nvPicPr>
        <p:blipFill>
          <a:blip r:embed="rId4"/>
          <a:stretch>
            <a:fillRect/>
          </a:stretch>
        </p:blipFill>
        <p:spPr>
          <a:xfrm>
            <a:off x="6750474" y="2055495"/>
            <a:ext cx="4754648" cy="2178197"/>
          </a:xfrm>
          <a:prstGeom prst="rect">
            <a:avLst/>
          </a:prstGeom>
        </p:spPr>
      </p:pic>
      <p:sp>
        <p:nvSpPr>
          <p:cNvPr id="23" name="Shape 4">
            <a:extLst>
              <a:ext uri="{FF2B5EF4-FFF2-40B4-BE49-F238E27FC236}">
                <a16:creationId xmlns:a16="http://schemas.microsoft.com/office/drawing/2014/main" id="{B37EB2A6-C1DD-1EB2-5FF0-7E47016608E8}"/>
              </a:ext>
            </a:extLst>
          </p:cNvPr>
          <p:cNvSpPr/>
          <p:nvPr/>
        </p:nvSpPr>
        <p:spPr>
          <a:xfrm>
            <a:off x="6750473" y="4527062"/>
            <a:ext cx="4748952" cy="1656568"/>
          </a:xfrm>
          <a:prstGeom prst="roundRect">
            <a:avLst>
              <a:gd name="adj" fmla="val 5000"/>
            </a:avLst>
          </a:prstGeom>
          <a:solidFill>
            <a:srgbClr val="F2F2F2"/>
          </a:solidFill>
          <a:ln w="12700">
            <a:solidFill>
              <a:srgbClr val="BFBFBF"/>
            </a:solidFill>
            <a:prstDash val="solid"/>
          </a:ln>
        </p:spPr>
        <p:txBody>
          <a:bodyPr/>
          <a:lstStyle/>
          <a:p>
            <a:endParaRPr lang="en-GB"/>
          </a:p>
        </p:txBody>
      </p:sp>
      <p:sp>
        <p:nvSpPr>
          <p:cNvPr id="25" name="Text 5">
            <a:extLst>
              <a:ext uri="{FF2B5EF4-FFF2-40B4-BE49-F238E27FC236}">
                <a16:creationId xmlns:a16="http://schemas.microsoft.com/office/drawing/2014/main" id="{6F4D973C-ADB0-4D0E-8778-4152BFFCDF5D}"/>
              </a:ext>
            </a:extLst>
          </p:cNvPr>
          <p:cNvSpPr txBox="1"/>
          <p:nvPr/>
        </p:nvSpPr>
        <p:spPr>
          <a:xfrm>
            <a:off x="6887632" y="4600213"/>
            <a:ext cx="4392781" cy="1490911"/>
          </a:xfrm>
          <a:prstGeom prst="rect">
            <a:avLst/>
          </a:prstGeom>
          <a:noFill/>
          <a:ln/>
        </p:spPr>
        <p:txBody>
          <a:bodyPr wrap="square" lIns="0" tIns="0" rIns="0" bIns="0" rtlCol="0" anchor="ctr"/>
          <a:lstStyle/>
          <a:p>
            <a:pPr marL="0" indent="0">
              <a:spcAft>
                <a:spcPts val="400"/>
              </a:spcAft>
              <a:buNone/>
            </a:pPr>
            <a:r>
              <a:rPr lang="en-US" sz="1200" b="1">
                <a:solidFill>
                  <a:srgbClr val="000000"/>
                </a:solidFill>
                <a:latin typeface="Calibri" pitchFamily="34" charset="0"/>
                <a:ea typeface="Calibri" pitchFamily="34" charset="-122"/>
                <a:cs typeface="Calibri" pitchFamily="34" charset="-120"/>
              </a:rPr>
              <a:t>Why? </a:t>
            </a:r>
            <a:r>
              <a:rPr lang="en-US" sz="1200">
                <a:solidFill>
                  <a:srgbClr val="000000"/>
                </a:solidFill>
                <a:latin typeface="Calibri" pitchFamily="34" charset="0"/>
                <a:ea typeface="Calibri" pitchFamily="34" charset="-122"/>
                <a:cs typeface="Calibri" pitchFamily="34" charset="-120"/>
              </a:rPr>
              <a:t>At the monthly horizon RF and NN fit a more persistent series than HAR → better approximation of RV’s long memory.</a:t>
            </a:r>
            <a:endParaRPr lang="en-US" sz="1200"/>
          </a:p>
          <a:p>
            <a:pPr marL="0" indent="0">
              <a:spcAft>
                <a:spcPts val="400"/>
              </a:spcAft>
              <a:buNone/>
            </a:pPr>
            <a:r>
              <a:rPr lang="en-US" sz="1200" b="1">
                <a:solidFill>
                  <a:srgbClr val="5A5A5A"/>
                </a:solidFill>
                <a:latin typeface="Calibri" pitchFamily="34" charset="0"/>
                <a:ea typeface="Calibri" pitchFamily="34" charset="-122"/>
                <a:cs typeface="Calibri" pitchFamily="34" charset="-120"/>
              </a:rPr>
              <a:t>Caveat: </a:t>
            </a:r>
            <a:r>
              <a:rPr lang="en-US" sz="1200">
                <a:solidFill>
                  <a:srgbClr val="000000"/>
                </a:solidFill>
                <a:latin typeface="Calibri" pitchFamily="34" charset="0"/>
                <a:ea typeface="Calibri" pitchFamily="34" charset="-122"/>
                <a:cs typeface="Calibri" pitchFamily="34" charset="-120"/>
              </a:rPr>
              <a:t>part of the −40% reflects HAR-X/HARQ collapsing. Against LogHAR, RF is ~31% better.</a:t>
            </a:r>
            <a:endParaRPr lang="en-US" sz="1200"/>
          </a:p>
        </p:txBody>
      </p:sp>
    </p:spTree>
    <p:extLst>
      <p:ext uri="{BB962C8B-B14F-4D97-AF65-F5344CB8AC3E}">
        <p14:creationId xmlns:p14="http://schemas.microsoft.com/office/powerpoint/2010/main" val="3772546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Most of the ML gain comes from a single month: the April 2025 tariff shock</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14</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54%</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HAR error:</a:t>
            </a:r>
            <a:r>
              <a:rPr lang="en-US" sz="1100">
                <a:solidFill>
                  <a:srgbClr val="5A5A5A"/>
                </a:solidFill>
                <a:latin typeface="Calibri" pitchFamily="34" charset="0"/>
                <a:ea typeface="Calibri" pitchFamily="34" charset="-122"/>
                <a:cs typeface="Calibri" pitchFamily="34" charset="-120"/>
              </a:rPr>
              <a:t xml:space="preserve"> share of its squared error in April 2025, only 4% of test days</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1.00 → 0.79</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in April 2025:</a:t>
            </a:r>
            <a:r>
              <a:rPr lang="en-US" sz="1100">
                <a:solidFill>
                  <a:srgbClr val="5A5A5A"/>
                </a:solidFill>
                <a:latin typeface="Calibri" pitchFamily="34" charset="0"/>
                <a:ea typeface="Calibri" pitchFamily="34" charset="-122"/>
                <a:cs typeface="Calibri" pitchFamily="34" charset="-120"/>
              </a:rPr>
              <a:t xml:space="preserve"> RV lags only vs all predictors: the gain comes from implied vol and VIX</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181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0.96</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Without April 2025:</a:t>
            </a:r>
            <a:r>
              <a:rPr lang="en-US" sz="1100">
                <a:solidFill>
                  <a:srgbClr val="5A5A5A"/>
                </a:solidFill>
                <a:latin typeface="Calibri" pitchFamily="34" charset="0"/>
                <a:ea typeface="Calibri" pitchFamily="34" charset="-122"/>
                <a:cs typeface="Calibri" pitchFamily="34" charset="-120"/>
              </a:rPr>
              <a:t xml:space="preserve"> random forest only 0.96 vs HAR; LogHAR still 0.89</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M_ALL, 1 day; cumulative (HAR loss − model loss), scaled by each stock's mean HAR loss</a:t>
            </a:r>
          </a:p>
        </p:txBody>
      </p:sp>
      <p:pic>
        <p:nvPicPr>
          <p:cNvPr id="8" name="Picture 7">
            <a:extLst>
              <a:ext uri="{FF2B5EF4-FFF2-40B4-BE49-F238E27FC236}">
                <a16:creationId xmlns:a16="http://schemas.microsoft.com/office/drawing/2014/main" id="{1E570863-7F55-E49D-A1EF-F4D85FF0FD56}"/>
              </a:ext>
            </a:extLst>
          </p:cNvPr>
          <p:cNvPicPr>
            <a:picLocks noChangeAspect="1"/>
          </p:cNvPicPr>
          <p:nvPr/>
        </p:nvPicPr>
        <p:blipFill>
          <a:blip r:embed="rId3"/>
          <a:stretch>
            <a:fillRect/>
          </a:stretch>
        </p:blipFill>
        <p:spPr>
          <a:xfrm>
            <a:off x="609600" y="1680000"/>
            <a:ext cx="10972800" cy="3128901"/>
          </a:xfrm>
          <a:prstGeom prst="rect">
            <a:avLst/>
          </a:prstGeom>
        </p:spPr>
      </p:pic>
    </p:spTree>
    <p:extLst>
      <p:ext uri="{BB962C8B-B14F-4D97-AF65-F5344CB8AC3E}">
        <p14:creationId xmlns:p14="http://schemas.microsoft.com/office/powerpoint/2010/main" val="1887357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One day ahead we replicate the paper closely; at one month the random forest only works on log RV</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12</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9245600" y="19050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0.87 vs 0.90</a:t>
            </a:r>
          </a:p>
        </p:txBody>
      </p:sp>
      <p:sp>
        <p:nvSpPr>
          <p:cNvPr id="23" name="Text 4">
            <a:extLst>
              <a:ext uri="{FF2B5EF4-FFF2-40B4-BE49-F238E27FC236}">
                <a16:creationId xmlns:a16="http://schemas.microsoft.com/office/drawing/2014/main" id="{A5EC2ECE-D87F-CF6A-3DD2-724DDEFF6CC3}"/>
              </a:ext>
            </a:extLst>
          </p:cNvPr>
          <p:cNvSpPr txBox="1"/>
          <p:nvPr/>
        </p:nvSpPr>
        <p:spPr>
          <a:xfrm>
            <a:off x="9245600" y="23622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1 day:</a:t>
            </a:r>
            <a:r>
              <a:rPr lang="en-US" sz="1100">
                <a:solidFill>
                  <a:srgbClr val="5A5A5A"/>
                </a:solidFill>
                <a:latin typeface="Calibri" pitchFamily="34" charset="0"/>
                <a:ea typeface="Calibri" pitchFamily="34" charset="-122"/>
                <a:cs typeface="Calibri" pitchFamily="34" charset="-120"/>
              </a:rPr>
              <a:t xml:space="preserve"> ours vs paper; beats HAR for 28 of 30 stocks, DM test significant (**)</a:t>
            </a:r>
          </a:p>
        </p:txBody>
      </p:sp>
      <p:sp>
        <p:nvSpPr>
          <p:cNvPr id="25" name="Text 5">
            <a:extLst>
              <a:ext uri="{FF2B5EF4-FFF2-40B4-BE49-F238E27FC236}">
                <a16:creationId xmlns:a16="http://schemas.microsoft.com/office/drawing/2014/main" id="{0CB23CC3-264A-EB70-D819-C4E11429D77C}"/>
              </a:ext>
            </a:extLst>
          </p:cNvPr>
          <p:cNvSpPr txBox="1"/>
          <p:nvPr/>
        </p:nvSpPr>
        <p:spPr>
          <a:xfrm>
            <a:off x="9245600" y="3327400"/>
            <a:ext cx="2336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1.15 vs 0.60</a:t>
            </a:r>
          </a:p>
        </p:txBody>
      </p:sp>
      <p:sp>
        <p:nvSpPr>
          <p:cNvPr id="27" name="Text 6">
            <a:extLst>
              <a:ext uri="{FF2B5EF4-FFF2-40B4-BE49-F238E27FC236}">
                <a16:creationId xmlns:a16="http://schemas.microsoft.com/office/drawing/2014/main" id="{6D3ACEFA-6F48-276B-3E35-1A12FA5C6862}"/>
              </a:ext>
            </a:extLst>
          </p:cNvPr>
          <p:cNvSpPr txBox="1"/>
          <p:nvPr/>
        </p:nvSpPr>
        <p:spPr>
          <a:xfrm>
            <a:off x="9245600" y="37846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1 month:</a:t>
            </a:r>
            <a:r>
              <a:rPr lang="en-US" sz="1100">
                <a:solidFill>
                  <a:srgbClr val="5A5A5A"/>
                </a:solidFill>
                <a:latin typeface="Calibri" pitchFamily="34" charset="0"/>
                <a:ea typeface="Calibri" pitchFamily="34" charset="-122"/>
                <a:cs typeface="Calibri" pitchFamily="34" charset="-120"/>
              </a:rPr>
              <a:t xml:space="preserve"> the paper's strongest result does not carry over</a:t>
            </a:r>
          </a:p>
        </p:txBody>
      </p:sp>
      <p:sp>
        <p:nvSpPr>
          <p:cNvPr id="29" name="Text 7">
            <a:extLst>
              <a:ext uri="{FF2B5EF4-FFF2-40B4-BE49-F238E27FC236}">
                <a16:creationId xmlns:a16="http://schemas.microsoft.com/office/drawing/2014/main" id="{7D3F9002-A43B-418C-1A77-6C3EABD22685}"/>
              </a:ext>
            </a:extLst>
          </p:cNvPr>
          <p:cNvSpPr txBox="1"/>
          <p:nvPr/>
        </p:nvSpPr>
        <p:spPr>
          <a:xfrm>
            <a:off x="9245600" y="4749800"/>
            <a:ext cx="2336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0.84</a:t>
            </a:r>
          </a:p>
        </p:txBody>
      </p:sp>
      <p:sp>
        <p:nvSpPr>
          <p:cNvPr id="31" name="Text 8">
            <a:extLst>
              <a:ext uri="{FF2B5EF4-FFF2-40B4-BE49-F238E27FC236}">
                <a16:creationId xmlns:a16="http://schemas.microsoft.com/office/drawing/2014/main" id="{C204AC96-C46E-0FAC-E310-6C96E72CB0B0}"/>
              </a:ext>
            </a:extLst>
          </p:cNvPr>
          <p:cNvSpPr txBox="1"/>
          <p:nvPr/>
        </p:nvSpPr>
        <p:spPr>
          <a:xfrm>
            <a:off x="9245600" y="5207000"/>
            <a:ext cx="2336800" cy="6096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Our fix, random forest on log RV, 1 month:</a:t>
            </a:r>
            <a:r>
              <a:rPr lang="en-US" sz="1100">
                <a:solidFill>
                  <a:srgbClr val="5A5A5A"/>
                </a:solidFill>
                <a:latin typeface="Calibri" pitchFamily="34" charset="0"/>
                <a:ea typeface="Calibri" pitchFamily="34" charset="-122"/>
                <a:cs typeface="Calibri" pitchFamily="34" charset="-120"/>
              </a:rPr>
              <a:t xml:space="preserve"> beats HAR for 28 of 30 stocks (1 week: 0.77)</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all predictors (M_ALL); MSE relative to HAR (&lt; 1 = better)</a:t>
            </a:r>
          </a:p>
        </p:txBody>
      </p:sp>
      <p:pic>
        <p:nvPicPr>
          <p:cNvPr id="8" name="Picture 7">
            <a:extLst>
              <a:ext uri="{FF2B5EF4-FFF2-40B4-BE49-F238E27FC236}">
                <a16:creationId xmlns:a16="http://schemas.microsoft.com/office/drawing/2014/main" id="{BCC15614-1EC3-C294-CF79-270D7126BE4B}"/>
              </a:ext>
            </a:extLst>
          </p:cNvPr>
          <p:cNvPicPr>
            <a:picLocks noChangeAspect="1"/>
          </p:cNvPicPr>
          <p:nvPr/>
        </p:nvPicPr>
        <p:blipFill>
          <a:blip r:embed="rId3"/>
          <a:stretch>
            <a:fillRect/>
          </a:stretch>
        </p:blipFill>
        <p:spPr>
          <a:xfrm>
            <a:off x="1038744" y="1700000"/>
            <a:ext cx="7591710" cy="4420000"/>
          </a:xfrm>
          <a:prstGeom prst="rect">
            <a:avLst/>
          </a:prstGeom>
        </p:spPr>
      </p:pic>
    </p:spTree>
    <p:extLst>
      <p:ext uri="{BB962C8B-B14F-4D97-AF65-F5344CB8AC3E}">
        <p14:creationId xmlns:p14="http://schemas.microsoft.com/office/powerpoint/2010/main" val="406418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Where COVID sits decides who wins, but a 50/50 random forest + LogHAR average beats HAR in every split (1 day)</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15</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054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1.70</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COVID in test:</a:t>
            </a:r>
            <a:r>
              <a:rPr lang="en-US" sz="1100">
                <a:solidFill>
                  <a:srgbClr val="5A5A5A"/>
                </a:solidFill>
                <a:latin typeface="Calibri" pitchFamily="34" charset="0"/>
                <a:ea typeface="Calibri" pitchFamily="34" charset="-122"/>
                <a:cs typeface="Calibri" pitchFamily="34" charset="-120"/>
              </a:rPr>
              <a:t xml:space="preserve"> trained on calm 2016–19, it loses clearly to HAR (1 day)</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054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0.89</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RF + LogHAR (50/50), COVID in test:</a:t>
            </a:r>
            <a:r>
              <a:rPr lang="en-US" sz="1100">
                <a:solidFill>
                  <a:srgbClr val="5A5A5A"/>
                </a:solidFill>
                <a:latin typeface="Calibri" pitchFamily="34" charset="0"/>
                <a:ea typeface="Calibri" pitchFamily="34" charset="-122"/>
                <a:cs typeface="Calibri" pitchFamily="34" charset="-120"/>
              </a:rPr>
              <a:t xml:space="preserve"> errors offset, beats HAR for 27 of 30 stocks (1 day)</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054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0.87 → 0.96</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5118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without 2020:</a:t>
            </a:r>
            <a:r>
              <a:rPr lang="en-US" sz="1100">
                <a:solidFill>
                  <a:srgbClr val="5A5A5A"/>
                </a:solidFill>
                <a:latin typeface="Calibri" pitchFamily="34" charset="0"/>
                <a:ea typeface="Calibri" pitchFamily="34" charset="-122"/>
                <a:cs typeface="Calibri" pitchFamily="34" charset="-120"/>
              </a:rPr>
              <a:t xml:space="preserve"> the edge shrinks once COVID leaves training</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M_ALL; three splits; h-day forecasts clipped to the range of h-day RV realized so far (insanity filter, &lt; 0.5% of forecasts)</a:t>
            </a:r>
          </a:p>
        </p:txBody>
      </p:sp>
      <p:pic>
        <p:nvPicPr>
          <p:cNvPr id="8" name="Picture 7">
            <a:extLst>
              <a:ext uri="{FF2B5EF4-FFF2-40B4-BE49-F238E27FC236}">
                <a16:creationId xmlns:a16="http://schemas.microsoft.com/office/drawing/2014/main" id="{D619758D-9BB9-44F3-9C9F-F8C0948A5C05}"/>
              </a:ext>
            </a:extLst>
          </p:cNvPr>
          <p:cNvPicPr>
            <a:picLocks noChangeAspect="1"/>
          </p:cNvPicPr>
          <p:nvPr/>
        </p:nvPicPr>
        <p:blipFill>
          <a:blip r:embed="rId3"/>
          <a:stretch>
            <a:fillRect/>
          </a:stretch>
        </p:blipFill>
        <p:spPr>
          <a:xfrm>
            <a:off x="609600" y="1680000"/>
            <a:ext cx="10972800" cy="3217984"/>
          </a:xfrm>
          <a:prstGeom prst="rect">
            <a:avLst/>
          </a:prstGeom>
        </p:spPr>
      </p:pic>
    </p:spTree>
    <p:extLst>
      <p:ext uri="{BB962C8B-B14F-4D97-AF65-F5344CB8AC3E}">
        <p14:creationId xmlns:p14="http://schemas.microsoft.com/office/powerpoint/2010/main" val="3486473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Implied volatility and VIX matter as much as past RV for the nonlinear models</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16</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49530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67%</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a:t>
            </a:r>
            <a:r>
              <a:rPr lang="en-US" sz="1100">
                <a:solidFill>
                  <a:srgbClr val="5A5A5A"/>
                </a:solidFill>
                <a:latin typeface="Calibri" pitchFamily="34" charset="0"/>
                <a:ea typeface="Calibri" pitchFamily="34" charset="-122"/>
                <a:cs typeface="Calibri" pitchFamily="34" charset="-120"/>
              </a:rPr>
              <a:t xml:space="preserve"> daily RV, implied vol and VIX together, about 22% each</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49530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Top 3</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Implied vol:</a:t>
            </a:r>
            <a:r>
              <a:rPr lang="en-US" sz="1100">
                <a:solidFill>
                  <a:srgbClr val="5A5A5A"/>
                </a:solidFill>
                <a:latin typeface="Calibri" pitchFamily="34" charset="0"/>
                <a:ea typeface="Calibri" pitchFamily="34" charset="-122"/>
                <a:cs typeface="Calibri" pitchFamily="34" charset="-120"/>
              </a:rPr>
              <a:t xml:space="preserve"> among the top drivers in RF and NN, as in the paper (Fig. 7)</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49530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~5%</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410200"/>
            <a:ext cx="3352800" cy="5588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Macro variables:</a:t>
            </a:r>
            <a:r>
              <a:rPr lang="en-US" sz="1100">
                <a:solidFill>
                  <a:srgbClr val="5A5A5A"/>
                </a:solidFill>
                <a:latin typeface="Calibri" pitchFamily="34" charset="0"/>
                <a:ea typeface="Calibri" pitchFamily="34" charset="-122"/>
                <a:cs typeface="Calibri" pitchFamily="34" charset="-120"/>
              </a:rPr>
              <a:t xml:space="preserve"> ADS, EPU, Hang Seng, T-bill: about 5% or less each</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ALE-based variable importance, M_ALL, 1 day, initial training window, average of 8 stocks</a:t>
            </a:r>
          </a:p>
        </p:txBody>
      </p:sp>
      <p:pic>
        <p:nvPicPr>
          <p:cNvPr id="8" name="Picture 7">
            <a:extLst>
              <a:ext uri="{FF2B5EF4-FFF2-40B4-BE49-F238E27FC236}">
                <a16:creationId xmlns:a16="http://schemas.microsoft.com/office/drawing/2014/main" id="{9EEAF7CF-AFEE-31FA-F2E5-BF0A5A8E527D}"/>
              </a:ext>
            </a:extLst>
          </p:cNvPr>
          <p:cNvPicPr>
            <a:picLocks noChangeAspect="1"/>
          </p:cNvPicPr>
          <p:nvPr/>
        </p:nvPicPr>
        <p:blipFill>
          <a:blip r:embed="rId3"/>
          <a:stretch>
            <a:fillRect/>
          </a:stretch>
        </p:blipFill>
        <p:spPr>
          <a:xfrm>
            <a:off x="617161" y="1680000"/>
            <a:ext cx="10957676" cy="3380000"/>
          </a:xfrm>
          <a:prstGeom prst="rect">
            <a:avLst/>
          </a:prstGeom>
        </p:spPr>
      </p:pic>
    </p:spTree>
    <p:extLst>
      <p:ext uri="{BB962C8B-B14F-4D97-AF65-F5344CB8AC3E}">
        <p14:creationId xmlns:p14="http://schemas.microsoft.com/office/powerpoint/2010/main" val="1335031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149C6A-BBEC-4AF9-9531-5D580034539E}"/>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4D9B6EDC-5268-4E0E-89F1-0C7E21C97B0F}"/>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EE0BBFCE-BB42-4B0B-9557-CE96554DC784}"/>
              </a:ext>
            </a:extLst>
          </p:cNvPr>
          <p:cNvSpPr>
            <a:spLocks noGrp="1"/>
          </p:cNvSpPr>
          <p:nvPr/>
        </p:nvSpPr>
        <p:spPr>
          <a:xfrm>
            <a:off x="609600" y="647700"/>
            <a:ext cx="10668000" cy="533400"/>
          </a:xfrm>
          <a:prstGeom prst="rect">
            <a:avLst/>
          </a:prstGeom>
          <a:noFill/>
          <a:ln w="0">
            <a:noFill/>
          </a:ln>
        </p:spPr>
        <p:txBody>
          <a:bodyPr anchor="t">
            <a:noAutofit/>
          </a:bodyPr>
          <a:lstStyle/>
          <a:p>
            <a:pPr algn="l">
              <a:defRPr sz="2700" b="1" i="0">
                <a:solidFill>
                  <a:srgbClr val="000000"/>
                </a:solidFill>
                <a:latin typeface="Calibri"/>
                <a:ea typeface="Calibri"/>
                <a:cs typeface="Calibri"/>
              </a:defRPr>
            </a:pPr>
            <a:r>
              <a:rPr sz="2700" b="1" i="0">
                <a:solidFill>
                  <a:srgbClr val="C82B00"/>
                </a:solidFill>
                <a:latin typeface="Calibri"/>
                <a:ea typeface="Calibri"/>
                <a:cs typeface="Calibri"/>
              </a:rPr>
              <a:t>Deviations, limitations, and transfer</a:t>
            </a:r>
          </a:p>
        </p:txBody>
      </p:sp>
      <p:sp>
        <p:nvSpPr>
          <p:cNvPr id="6" name="Rectangle 5">
            <a:extLst>
              <a:ext uri="{FF2B5EF4-FFF2-40B4-BE49-F238E27FC236}">
                <a16:creationId xmlns:a16="http://schemas.microsoft.com/office/drawing/2014/main" id="{B1595DC6-1975-4772-BE77-DB80C450D717}"/>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3647E993-88CD-428F-87A2-D972839C06B2}"/>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18</a:t>
            </a:r>
            <a:endParaRPr sz="975" b="1" i="0">
              <a:solidFill>
                <a:srgbClr val="5A5A5A"/>
              </a:solidFill>
              <a:latin typeface="Calibri"/>
              <a:ea typeface="Calibri"/>
              <a:cs typeface="Calibri"/>
            </a:endParaRPr>
          </a:p>
        </p:txBody>
      </p:sp>
      <p:sp>
        <p:nvSpPr>
          <p:cNvPr id="8" name="Rectangle 7">
            <a:extLst>
              <a:ext uri="{FF2B5EF4-FFF2-40B4-BE49-F238E27FC236}">
                <a16:creationId xmlns:a16="http://schemas.microsoft.com/office/drawing/2014/main" id="{AF24276F-DFEB-4E94-91FD-3E305C68DF74}"/>
              </a:ext>
            </a:extLst>
          </p:cNvPr>
          <p:cNvSpPr>
            <a:spLocks noGrp="1"/>
          </p:cNvSpPr>
          <p:nvPr/>
        </p:nvSpPr>
        <p:spPr>
          <a:xfrm>
            <a:off x="685800" y="1524000"/>
            <a:ext cx="314325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Practical relevance</a:t>
            </a:r>
          </a:p>
        </p:txBody>
      </p:sp>
      <p:sp>
        <p:nvSpPr>
          <p:cNvPr id="9" name="Rectangle 8">
            <a:extLst>
              <a:ext uri="{FF2B5EF4-FFF2-40B4-BE49-F238E27FC236}">
                <a16:creationId xmlns:a16="http://schemas.microsoft.com/office/drawing/2014/main" id="{1CDFF462-33E3-45E8-B1DD-9330F2D91029}"/>
              </a:ext>
            </a:extLst>
          </p:cNvPr>
          <p:cNvSpPr>
            <a:spLocks noGrp="1"/>
          </p:cNvSpPr>
          <p:nvPr/>
        </p:nvSpPr>
        <p:spPr>
          <a:xfrm>
            <a:off x="723900" y="2076450"/>
            <a:ext cx="3143250" cy="2038350"/>
          </a:xfrm>
          <a:prstGeom prst="rect">
            <a:avLst/>
          </a:prstGeom>
          <a:noFill/>
          <a:ln w="0">
            <a:noFill/>
          </a:ln>
        </p:spPr>
        <p:txBody>
          <a:bodyPr>
            <a:noAutofit/>
          </a:bodyPr>
          <a:lstStyle/>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Risk management and VaR</a:t>
            </a:r>
          </a:p>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Option pricing and hedging</a:t>
            </a:r>
          </a:p>
          <a:p>
            <a:pPr marL="228600" indent="-114300">
              <a:spcAft>
                <a:spcPts val="800"/>
              </a:spcAft>
              <a:buChar char="•"/>
              <a:defRPr sz="1500">
                <a:solidFill>
                  <a:srgbClr val="000000"/>
                </a:solidFill>
                <a:latin typeface="Calibri"/>
                <a:ea typeface="Calibri"/>
                <a:cs typeface="Calibri"/>
              </a:defRPr>
            </a:pPr>
            <a:r>
              <a:rPr sz="1500">
                <a:solidFill>
                  <a:srgbClr val="000000"/>
                </a:solidFill>
                <a:latin typeface="Calibri"/>
                <a:ea typeface="Calibri"/>
                <a:cs typeface="Calibri"/>
              </a:rPr>
              <a:t>Volatility-linked structured products</a:t>
            </a:r>
          </a:p>
        </p:txBody>
      </p:sp>
      <p:sp>
        <p:nvSpPr>
          <p:cNvPr id="10" name="Rectangle 9">
            <a:extLst>
              <a:ext uri="{FF2B5EF4-FFF2-40B4-BE49-F238E27FC236}">
                <a16:creationId xmlns:a16="http://schemas.microsoft.com/office/drawing/2014/main" id="{F9C5FDD0-88D7-41A3-AF3A-D66335CADD79}"/>
              </a:ext>
            </a:extLst>
          </p:cNvPr>
          <p:cNvSpPr>
            <a:spLocks noGrp="1"/>
          </p:cNvSpPr>
          <p:nvPr/>
        </p:nvSpPr>
        <p:spPr>
          <a:xfrm>
            <a:off x="4076700" y="1466850"/>
            <a:ext cx="19050" cy="3733800"/>
          </a:xfrm>
          <a:prstGeom prst="rect">
            <a:avLst/>
          </a:prstGeom>
          <a:solidFill>
            <a:srgbClr val="D9D9D9"/>
          </a:solidFill>
          <a:ln w="0">
            <a:noFill/>
          </a:ln>
        </p:spPr>
        <p:txBody>
          <a:bodyPr/>
          <a:lstStyle/>
          <a:p>
            <a:endParaRPr lang="en-US"/>
          </a:p>
        </p:txBody>
      </p:sp>
      <p:sp>
        <p:nvSpPr>
          <p:cNvPr id="11" name="Rectangle 10">
            <a:extLst>
              <a:ext uri="{FF2B5EF4-FFF2-40B4-BE49-F238E27FC236}">
                <a16:creationId xmlns:a16="http://schemas.microsoft.com/office/drawing/2014/main" id="{F9A394F7-93BF-40C5-8CFA-57D6EC2F28B7}"/>
              </a:ext>
            </a:extLst>
          </p:cNvPr>
          <p:cNvSpPr>
            <a:spLocks noGrp="1"/>
          </p:cNvSpPr>
          <p:nvPr/>
        </p:nvSpPr>
        <p:spPr>
          <a:xfrm>
            <a:off x="4457700" y="1524000"/>
            <a:ext cx="285750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Deviations</a:t>
            </a:r>
          </a:p>
        </p:txBody>
      </p:sp>
      <p:sp>
        <p:nvSpPr>
          <p:cNvPr id="12" name="Rectangle 11">
            <a:extLst>
              <a:ext uri="{FF2B5EF4-FFF2-40B4-BE49-F238E27FC236}">
                <a16:creationId xmlns:a16="http://schemas.microsoft.com/office/drawing/2014/main" id="{12BD1D36-97C6-4646-833A-BEBCC45C75DA}"/>
              </a:ext>
            </a:extLst>
          </p:cNvPr>
          <p:cNvSpPr>
            <a:spLocks noGrp="1"/>
          </p:cNvSpPr>
          <p:nvPr/>
        </p:nvSpPr>
        <p:spPr>
          <a:xfrm>
            <a:off x="4495800" y="2076450"/>
            <a:ext cx="3143250" cy="2667000"/>
          </a:xfrm>
          <a:prstGeom prst="rect">
            <a:avLst/>
          </a:prstGeom>
          <a:noFill/>
          <a:ln w="0">
            <a:noFill/>
          </a:ln>
        </p:spPr>
        <p:txBody>
          <a:bodyPr>
            <a:noAutofit/>
          </a:bodyPr>
          <a:lstStyle/>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Sample 2016–2026 instead of 2001–2017</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VOLARE 5-min RV instead of NYSE TAQ</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IV: 30-day ATM (LSEG) instead of model-free; no earnings dummy</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Re-estimation every 22/63 days, not daily</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NN: best 5 of 10 seeds (paper: 10 of 100)</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Not run: adaptive/post lasso, MCS, VaR</a:t>
            </a:r>
          </a:p>
        </p:txBody>
      </p:sp>
      <p:sp>
        <p:nvSpPr>
          <p:cNvPr id="13" name="Rectangle 12">
            <a:extLst>
              <a:ext uri="{FF2B5EF4-FFF2-40B4-BE49-F238E27FC236}">
                <a16:creationId xmlns:a16="http://schemas.microsoft.com/office/drawing/2014/main" id="{EB5F71FD-8FFA-4155-8363-CFD44779DD88}"/>
              </a:ext>
            </a:extLst>
          </p:cNvPr>
          <p:cNvSpPr>
            <a:spLocks noGrp="1"/>
          </p:cNvSpPr>
          <p:nvPr/>
        </p:nvSpPr>
        <p:spPr>
          <a:xfrm>
            <a:off x="7848600" y="1466850"/>
            <a:ext cx="19050" cy="3733800"/>
          </a:xfrm>
          <a:prstGeom prst="rect">
            <a:avLst/>
          </a:prstGeom>
          <a:solidFill>
            <a:srgbClr val="D9D9D9"/>
          </a:solidFill>
          <a:ln w="0">
            <a:noFill/>
          </a:ln>
        </p:spPr>
        <p:txBody>
          <a:bodyPr/>
          <a:lstStyle/>
          <a:p>
            <a:endParaRPr lang="en-US"/>
          </a:p>
        </p:txBody>
      </p:sp>
      <p:sp>
        <p:nvSpPr>
          <p:cNvPr id="14" name="Rectangle 13">
            <a:extLst>
              <a:ext uri="{FF2B5EF4-FFF2-40B4-BE49-F238E27FC236}">
                <a16:creationId xmlns:a16="http://schemas.microsoft.com/office/drawing/2014/main" id="{701D825E-B655-4DF1-88BC-831376A067E0}"/>
              </a:ext>
            </a:extLst>
          </p:cNvPr>
          <p:cNvSpPr>
            <a:spLocks noGrp="1"/>
          </p:cNvSpPr>
          <p:nvPr/>
        </p:nvSpPr>
        <p:spPr>
          <a:xfrm>
            <a:off x="8229600" y="1524000"/>
            <a:ext cx="3143250" cy="342900"/>
          </a:xfrm>
          <a:prstGeom prst="rect">
            <a:avLst/>
          </a:prstGeom>
          <a:noFill/>
          <a:ln w="0">
            <a:noFill/>
          </a:ln>
        </p:spPr>
        <p:txBody>
          <a:bodyPr anchor="t">
            <a:noAutofit/>
          </a:bodyPr>
          <a:lstStyle/>
          <a:p>
            <a:pPr algn="l">
              <a:defRPr sz="2025" b="1" i="0">
                <a:solidFill>
                  <a:srgbClr val="C82B00"/>
                </a:solidFill>
                <a:latin typeface="Calibri"/>
                <a:ea typeface="Calibri"/>
                <a:cs typeface="Calibri"/>
              </a:defRPr>
            </a:pPr>
            <a:r>
              <a:rPr sz="2025" b="1" i="0">
                <a:solidFill>
                  <a:srgbClr val="C82B00"/>
                </a:solidFill>
                <a:latin typeface="Calibri"/>
                <a:ea typeface="Calibri"/>
                <a:cs typeface="Calibri"/>
              </a:rPr>
              <a:t>Our project</a:t>
            </a:r>
          </a:p>
        </p:txBody>
      </p:sp>
      <p:sp>
        <p:nvSpPr>
          <p:cNvPr id="15" name="Rectangle 14">
            <a:extLst>
              <a:ext uri="{FF2B5EF4-FFF2-40B4-BE49-F238E27FC236}">
                <a16:creationId xmlns:a16="http://schemas.microsoft.com/office/drawing/2014/main" id="{AB6989E4-BD6C-4F08-B2E8-8E6F1E8EACA4}"/>
              </a:ext>
            </a:extLst>
          </p:cNvPr>
          <p:cNvSpPr>
            <a:spLocks noGrp="1"/>
          </p:cNvSpPr>
          <p:nvPr/>
        </p:nvSpPr>
        <p:spPr>
          <a:xfrm>
            <a:off x="8267700" y="2076450"/>
            <a:ext cx="3048000" cy="2533650"/>
          </a:xfrm>
          <a:prstGeom prst="rect">
            <a:avLst/>
          </a:prstGeom>
          <a:noFill/>
          <a:ln w="0">
            <a:noFill/>
          </a:ln>
        </p:spPr>
        <p:txBody>
          <a:bodyPr>
            <a:noAutofit/>
          </a:bodyPr>
          <a:lstStyle/>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Open data: VOLARE, LSEG, FRED</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All 12 models trained by our Python code</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3 horizons × 2 predictor sets × 3 splits</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Evaluation: DM tests, QLIKE, ALE importance</a:t>
            </a:r>
          </a:p>
          <a:p>
            <a:pPr marL="228600" indent="-228600">
              <a:spcAft>
                <a:spcPts val="700"/>
              </a:spcAft>
              <a:buChar char="•"/>
              <a:defRPr sz="1425">
                <a:solidFill>
                  <a:srgbClr val="000000"/>
                </a:solidFill>
                <a:latin typeface="Calibri"/>
                <a:ea typeface="Calibri"/>
                <a:cs typeface="Calibri"/>
              </a:defRPr>
            </a:pPr>
            <a:r>
              <a:rPr sz="1425">
                <a:solidFill>
                  <a:srgbClr val="000000"/>
                </a:solidFill>
                <a:latin typeface="Calibri"/>
                <a:ea typeface="Calibri"/>
                <a:cs typeface="Calibri"/>
              </a:rPr>
              <a:t>Own additions: RF on log RV, RF + LogHAR combination</a:t>
            </a:r>
          </a:p>
        </p:txBody>
      </p:sp>
      <p:sp>
        <p:nvSpPr>
          <p:cNvPr id="16" name="Rectangle 15">
            <a:extLst>
              <a:ext uri="{FF2B5EF4-FFF2-40B4-BE49-F238E27FC236}">
                <a16:creationId xmlns:a16="http://schemas.microsoft.com/office/drawing/2014/main" id="{CB8C84EA-5C34-4689-90E3-28ACCCABB414}"/>
              </a:ext>
            </a:extLst>
          </p:cNvPr>
          <p:cNvSpPr>
            <a:spLocks noGrp="1"/>
          </p:cNvSpPr>
          <p:nvPr/>
        </p:nvSpPr>
        <p:spPr>
          <a:xfrm>
            <a:off x="8270240" y="4747260"/>
            <a:ext cx="2489200" cy="662940"/>
          </a:xfrm>
          <a:prstGeom prst="rect">
            <a:avLst/>
          </a:prstGeom>
          <a:noFill/>
          <a:ln w="0">
            <a:noFill/>
          </a:ln>
        </p:spPr>
        <p:txBody>
          <a:bodyPr lIns="91440" tIns="45720" rIns="91440" bIns="45720" anchor="t">
            <a:noAutofit/>
          </a:bodyPr>
          <a:lstStyle/>
          <a:p>
            <a:pPr algn="l">
              <a:defRPr sz="1350" b="1" i="0">
                <a:solidFill>
                  <a:srgbClr val="000000"/>
                </a:solidFill>
                <a:latin typeface="Calibri"/>
                <a:ea typeface="Calibri"/>
                <a:cs typeface="Calibri"/>
              </a:defRPr>
            </a:pPr>
            <a:r>
              <a:rPr lang="en-US" sz="1350" b="1">
                <a:solidFill>
                  <a:srgbClr val="000000"/>
                </a:solidFill>
                <a:latin typeface="Calibri"/>
                <a:ea typeface="Calibri"/>
                <a:cs typeface="Calibri"/>
              </a:rPr>
              <a:t>Which</a:t>
            </a:r>
            <a:r>
              <a:rPr sz="1350" b="1" i="0">
                <a:solidFill>
                  <a:srgbClr val="000000"/>
                </a:solidFill>
                <a:latin typeface="Calibri"/>
                <a:ea typeface="Calibri"/>
                <a:cs typeface="Calibri"/>
              </a:rPr>
              <a:t> findings remain valid in our dataset?</a:t>
            </a:r>
          </a:p>
        </p:txBody>
      </p:sp>
      <p:sp>
        <p:nvSpPr>
          <p:cNvPr id="18" name="Rectangle 17">
            <a:extLst>
              <a:ext uri="{FF2B5EF4-FFF2-40B4-BE49-F238E27FC236}">
                <a16:creationId xmlns:a16="http://schemas.microsoft.com/office/drawing/2014/main" id="{11905DFB-F3E4-4178-A909-57C8660C8F2A}"/>
              </a:ext>
            </a:extLst>
          </p:cNvPr>
          <p:cNvSpPr>
            <a:spLocks noGrp="1"/>
          </p:cNvSpPr>
          <p:nvPr/>
        </p:nvSpPr>
        <p:spPr>
          <a:xfrm>
            <a:off x="895350" y="5981700"/>
            <a:ext cx="10477500" cy="209550"/>
          </a:xfrm>
          <a:prstGeom prst="rect">
            <a:avLst/>
          </a:prstGeom>
          <a:noFill/>
          <a:ln w="0">
            <a:noFill/>
          </a:ln>
        </p:spPr>
        <p:txBody>
          <a:bodyPr lIns="91440" tIns="45720" rIns="91440" bIns="45720" anchor="t">
            <a:noAutofit/>
          </a:bodyPr>
          <a:lstStyle/>
          <a:p>
            <a:pPr algn="l">
              <a:defRPr sz="1125" b="0" i="1">
                <a:solidFill>
                  <a:srgbClr val="C82B00"/>
                </a:solidFill>
                <a:latin typeface="Calibri"/>
                <a:ea typeface="Calibri"/>
                <a:cs typeface="Calibri"/>
              </a:defRPr>
            </a:pPr>
            <a:endParaRPr lang="en-US" sz="1100" b="0" i="1">
              <a:solidFill>
                <a:srgbClr val="C82B00"/>
              </a:solidFill>
              <a:latin typeface="Calibri"/>
              <a:ea typeface="Calibri"/>
              <a:cs typeface="Calibri"/>
            </a:endParaRPr>
          </a:p>
        </p:txBody>
      </p:sp>
    </p:spTree>
    <p:extLst>
      <p:ext uri="{BB962C8B-B14F-4D97-AF65-F5344CB8AC3E}">
        <p14:creationId xmlns:p14="http://schemas.microsoft.com/office/powerpoint/2010/main" val="2363798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4 / OUR RESULTS</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Lukas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As in the paper, extra predictors move almost every stock below HAR, not just a few</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13</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13 → 28</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a:t>
            </a:r>
            <a:r>
              <a:rPr lang="en-US" sz="1100">
                <a:solidFill>
                  <a:srgbClr val="5A5A5A"/>
                </a:solidFill>
                <a:latin typeface="Calibri" pitchFamily="34" charset="0"/>
                <a:ea typeface="Calibri" pitchFamily="34" charset="-122"/>
                <a:cs typeface="Calibri" pitchFamily="34" charset="-120"/>
              </a:rPr>
              <a:t xml:space="preserve"> stocks (of 30) where it beats HAR, RV lags only → all predictors</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1.01 → 0.87</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Random forest, average:</a:t>
            </a:r>
            <a:r>
              <a:rPr lang="en-US" sz="1100">
                <a:solidFill>
                  <a:srgbClr val="5A5A5A"/>
                </a:solidFill>
                <a:latin typeface="Calibri" pitchFamily="34" charset="0"/>
                <a:ea typeface="Calibri" pitchFamily="34" charset="-122"/>
                <a:cs typeface="Calibri" pitchFamily="34" charset="-120"/>
              </a:rPr>
              <a:t xml:space="preserve"> the same shift as in the paper (1.02 → 0.90)</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181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29 of 30</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LogHAR and elastic net:</a:t>
            </a:r>
            <a:r>
              <a:rPr lang="en-US" sz="1100">
                <a:solidFill>
                  <a:srgbClr val="5A5A5A"/>
                </a:solidFill>
                <a:latin typeface="Calibri" pitchFamily="34" charset="0"/>
                <a:ea typeface="Calibri" pitchFamily="34" charset="-122"/>
                <a:cs typeface="Calibri" pitchFamily="34" charset="-120"/>
              </a:rPr>
              <a:t xml:space="preserve"> stocks where they beat HAR with all predictors</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1 day; one dot = one stock; paper averages from Christensen et al., Tables 2–3</a:t>
            </a:r>
          </a:p>
        </p:txBody>
      </p:sp>
      <p:pic>
        <p:nvPicPr>
          <p:cNvPr id="8" name="Picture 7">
            <a:extLst>
              <a:ext uri="{FF2B5EF4-FFF2-40B4-BE49-F238E27FC236}">
                <a16:creationId xmlns:a16="http://schemas.microsoft.com/office/drawing/2014/main" id="{1E570863-7F55-E49D-A1EF-F4D85FF0FD56}"/>
              </a:ext>
            </a:extLst>
          </p:cNvPr>
          <p:cNvPicPr>
            <a:picLocks noChangeAspect="1"/>
          </p:cNvPicPr>
          <p:nvPr/>
        </p:nvPicPr>
        <p:blipFill>
          <a:blip r:embed="rId3"/>
          <a:stretch>
            <a:fillRect/>
          </a:stretch>
        </p:blipFill>
        <p:spPr>
          <a:xfrm>
            <a:off x="890564" y="1680000"/>
            <a:ext cx="10410871" cy="3380000"/>
          </a:xfrm>
          <a:prstGeom prst="rect">
            <a:avLst/>
          </a:prstGeom>
        </p:spPr>
      </p:pic>
    </p:spTree>
    <p:extLst>
      <p:ext uri="{BB962C8B-B14F-4D97-AF65-F5344CB8AC3E}">
        <p14:creationId xmlns:p14="http://schemas.microsoft.com/office/powerpoint/2010/main" val="1887357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50200-2F14-4696-AE1D-57DD1F16FE23}"/>
              </a:ext>
            </a:extLst>
          </p:cNvPr>
          <p:cNvSpPr>
            <a:spLocks noGrp="1"/>
          </p:cNvSpPr>
          <p:nvPr/>
        </p:nvSpPr>
        <p:spPr>
          <a:xfrm>
            <a:off x="609600" y="266700"/>
            <a:ext cx="3429000" cy="266700"/>
          </a:xfrm>
          <a:prstGeom prst="rect">
            <a:avLst/>
          </a:prstGeom>
          <a:noFill/>
          <a:ln w="0">
            <a:noFill/>
          </a:ln>
        </p:spPr>
        <p:txBody>
          <a:bodyPr anchor="t">
            <a:noAutofit/>
          </a:bodyPr>
          <a:lstStyle/>
          <a:p>
            <a:pPr algn="l">
              <a:defRPr sz="1200" b="1" i="0">
                <a:solidFill>
                  <a:srgbClr val="5A5A5A"/>
                </a:solidFill>
                <a:latin typeface="Calibri"/>
                <a:ea typeface="Calibri"/>
                <a:cs typeface="Calibri"/>
              </a:defRPr>
            </a:pPr>
            <a:r>
              <a:rPr sz="1200" b="1" i="0">
                <a:solidFill>
                  <a:srgbClr val="5A5A5A"/>
                </a:solidFill>
                <a:latin typeface="Calibri"/>
                <a:ea typeface="Calibri"/>
                <a:cs typeface="Calibri"/>
              </a:rPr>
              <a:t>BLOCK 5 / ASSESSMENT</a:t>
            </a:r>
          </a:p>
        </p:txBody>
      </p:sp>
      <p:sp>
        <p:nvSpPr>
          <p:cNvPr id="3" name="Rectangle 2">
            <a:extLst>
              <a:ext uri="{FF2B5EF4-FFF2-40B4-BE49-F238E27FC236}">
                <a16:creationId xmlns:a16="http://schemas.microsoft.com/office/drawing/2014/main" id="{5FC1E6C1-514F-4199-84E2-53EC63C27BEC}"/>
              </a:ext>
            </a:extLst>
          </p:cNvPr>
          <p:cNvSpPr>
            <a:spLocks noGrp="1"/>
          </p:cNvSpPr>
          <p:nvPr/>
        </p:nvSpPr>
        <p:spPr>
          <a:xfrm>
            <a:off x="9239250" y="266700"/>
            <a:ext cx="2343150" cy="266700"/>
          </a:xfrm>
          <a:prstGeom prst="rect">
            <a:avLst/>
          </a:prstGeom>
          <a:noFill/>
          <a:ln w="0">
            <a:noFill/>
          </a:ln>
        </p:spPr>
        <p:txBody>
          <a:bodyPr anchor="t">
            <a:noAutofit/>
          </a:bodyPr>
          <a:lstStyle/>
          <a:p>
            <a:pPr algn="r">
              <a:defRPr sz="1200" b="1" i="0">
                <a:solidFill>
                  <a:srgbClr val="5A5A5A"/>
                </a:solidFill>
                <a:latin typeface="Calibri"/>
                <a:ea typeface="Calibri"/>
                <a:cs typeface="Calibri"/>
              </a:defRPr>
            </a:pPr>
            <a:r>
              <a:rPr sz="1200" b="1" i="0">
                <a:solidFill>
                  <a:srgbClr val="5A5A5A"/>
                </a:solidFill>
                <a:latin typeface="Calibri"/>
                <a:ea typeface="Calibri"/>
                <a:cs typeface="Calibri"/>
              </a:rPr>
              <a:t>Aleks</a:t>
            </a:r>
          </a:p>
        </p:txBody>
      </p:sp>
      <p:sp>
        <p:nvSpPr>
          <p:cNvPr id="4" name="Rectangle 3">
            <a:extLst>
              <a:ext uri="{FF2B5EF4-FFF2-40B4-BE49-F238E27FC236}">
                <a16:creationId xmlns:a16="http://schemas.microsoft.com/office/drawing/2014/main" id="{D0B44021-2389-4826-B779-D4825737A030}"/>
              </a:ext>
            </a:extLst>
          </p:cNvPr>
          <p:cNvSpPr>
            <a:spLocks noGrp="1"/>
          </p:cNvSpPr>
          <p:nvPr/>
        </p:nvSpPr>
        <p:spPr>
          <a:xfrm>
            <a:off x="609600" y="647699"/>
            <a:ext cx="10668000" cy="939165"/>
          </a:xfrm>
          <a:prstGeom prst="rect">
            <a:avLst/>
          </a:prstGeom>
          <a:noFill/>
          <a:ln w="0">
            <a:noFill/>
          </a:ln>
        </p:spPr>
        <p:txBody>
          <a:bodyPr anchor="t">
            <a:noAutofit/>
          </a:bodyPr>
          <a:lstStyle/>
          <a:p>
            <a:r>
              <a:rPr lang="en-US" sz="2800" b="1">
                <a:solidFill>
                  <a:srgbClr val="C82B00"/>
                </a:solidFill>
                <a:latin typeface="Calibri" pitchFamily="34" charset="0"/>
                <a:ea typeface="Calibri" pitchFamily="34" charset="-122"/>
                <a:cs typeface="Calibri" pitchFamily="34" charset="-120"/>
              </a:rPr>
              <a:t>Verdict: H1 and H2 hold in the baseline split, H3 does not</a:t>
            </a:r>
          </a:p>
        </p:txBody>
      </p:sp>
      <p:sp>
        <p:nvSpPr>
          <p:cNvPr id="6" name="Rectangle 5">
            <a:extLst>
              <a:ext uri="{FF2B5EF4-FFF2-40B4-BE49-F238E27FC236}">
                <a16:creationId xmlns:a16="http://schemas.microsoft.com/office/drawing/2014/main" id="{242D1129-300A-4A5D-9638-A38185FC2A39}"/>
              </a:ext>
            </a:extLst>
          </p:cNvPr>
          <p:cNvSpPr>
            <a:spLocks noGrp="1"/>
          </p:cNvSpPr>
          <p:nvPr/>
        </p:nvSpPr>
        <p:spPr>
          <a:xfrm>
            <a:off x="6096000" y="6534150"/>
            <a:ext cx="4826000" cy="190500"/>
          </a:xfrm>
          <a:prstGeom prst="rect">
            <a:avLst/>
          </a:prstGeom>
          <a:noFill/>
          <a:ln w="0">
            <a:noFill/>
          </a:ln>
        </p:spPr>
        <p:txBody>
          <a:bodyPr anchor="t">
            <a:noAutofit/>
          </a:bodyPr>
          <a:lstStyle/>
          <a:p>
            <a:pPr algn="r">
              <a:defRPr sz="975" b="0" i="0">
                <a:solidFill>
                  <a:srgbClr val="5A5A5A"/>
                </a:solidFill>
                <a:latin typeface="Calibri"/>
                <a:ea typeface="Calibri"/>
                <a:cs typeface="Calibri"/>
              </a:defRPr>
            </a:pPr>
            <a:r>
              <a:rPr sz="975" b="0" i="0">
                <a:solidFill>
                  <a:srgbClr val="5A5A5A"/>
                </a:solidFill>
                <a:latin typeface="Calibri"/>
                <a:ea typeface="Calibri"/>
                <a:cs typeface="Calibri"/>
              </a:rPr>
              <a:t>Christensen, Siggaard &amp; Veliyev</a:t>
            </a:r>
          </a:p>
        </p:txBody>
      </p:sp>
      <p:sp>
        <p:nvSpPr>
          <p:cNvPr id="7" name="Rectangle 6">
            <a:extLst>
              <a:ext uri="{FF2B5EF4-FFF2-40B4-BE49-F238E27FC236}">
                <a16:creationId xmlns:a16="http://schemas.microsoft.com/office/drawing/2014/main" id="{5DD941BC-F091-44DC-B1E5-62F36243FF86}"/>
              </a:ext>
            </a:extLst>
          </p:cNvPr>
          <p:cNvSpPr>
            <a:spLocks noGrp="1"/>
          </p:cNvSpPr>
          <p:nvPr/>
        </p:nvSpPr>
        <p:spPr>
          <a:xfrm>
            <a:off x="11106150" y="6534150"/>
            <a:ext cx="476250" cy="190500"/>
          </a:xfrm>
          <a:prstGeom prst="rect">
            <a:avLst/>
          </a:prstGeom>
          <a:noFill/>
          <a:ln w="0">
            <a:noFill/>
          </a:ln>
        </p:spPr>
        <p:txBody>
          <a:bodyPr anchor="t">
            <a:noAutofit/>
          </a:bodyPr>
          <a:lstStyle/>
          <a:p>
            <a:pPr algn="r">
              <a:defRPr sz="975" b="1" i="0">
                <a:solidFill>
                  <a:srgbClr val="5A5A5A"/>
                </a:solidFill>
                <a:latin typeface="Calibri"/>
                <a:ea typeface="Calibri"/>
                <a:cs typeface="Calibri"/>
              </a:defRPr>
            </a:pPr>
            <a:r>
              <a:rPr lang="de-DE" sz="975" b="1">
                <a:solidFill>
                  <a:srgbClr val="5A5A5A"/>
                </a:solidFill>
                <a:latin typeface="Calibri"/>
                <a:ea typeface="Calibri"/>
                <a:cs typeface="Calibri"/>
              </a:rPr>
              <a:t>17</a:t>
            </a:r>
            <a:endParaRPr sz="975" b="1" i="0">
              <a:solidFill>
                <a:srgbClr val="5A5A5A"/>
              </a:solidFill>
              <a:latin typeface="Calibri"/>
              <a:ea typeface="Calibri"/>
              <a:cs typeface="Calibri"/>
            </a:endParaRPr>
          </a:p>
        </p:txBody>
      </p:sp>
      <p:sp>
        <p:nvSpPr>
          <p:cNvPr id="21" name="Text 3">
            <a:extLst>
              <a:ext uri="{FF2B5EF4-FFF2-40B4-BE49-F238E27FC236}">
                <a16:creationId xmlns:a16="http://schemas.microsoft.com/office/drawing/2014/main" id="{010B84A6-4778-0B8D-C0D3-DC14FF94B52F}"/>
              </a:ext>
            </a:extLst>
          </p:cNvPr>
          <p:cNvSpPr txBox="1"/>
          <p:nvPr/>
        </p:nvSpPr>
        <p:spPr>
          <a:xfrm>
            <a:off x="60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H1 ✓</a:t>
            </a:r>
          </a:p>
        </p:txBody>
      </p:sp>
      <p:sp>
        <p:nvSpPr>
          <p:cNvPr id="23" name="Text 4">
            <a:extLst>
              <a:ext uri="{FF2B5EF4-FFF2-40B4-BE49-F238E27FC236}">
                <a16:creationId xmlns:a16="http://schemas.microsoft.com/office/drawing/2014/main" id="{A5EC2ECE-D87F-CF6A-3DD2-724DDEFF6CC3}"/>
              </a:ext>
            </a:extLst>
          </p:cNvPr>
          <p:cNvSpPr txBox="1"/>
          <p:nvPr/>
        </p:nvSpPr>
        <p:spPr>
          <a:xfrm>
            <a:off x="60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RV lags only:</a:t>
            </a:r>
            <a:r>
              <a:rPr lang="en-US" sz="1100">
                <a:solidFill>
                  <a:srgbClr val="5A5A5A"/>
                </a:solidFill>
                <a:latin typeface="Calibri" pitchFamily="34" charset="0"/>
                <a:ea typeface="Calibri" pitchFamily="34" charset="-122"/>
                <a:cs typeface="Calibri" pitchFamily="34" charset="-120"/>
              </a:rPr>
              <a:t xml:space="preserve"> ML ≈ HAR at 1 day (RF 1.01, NN 0.96, elastic net 0.95)</a:t>
            </a:r>
          </a:p>
        </p:txBody>
      </p:sp>
      <p:sp>
        <p:nvSpPr>
          <p:cNvPr id="25" name="Text 5">
            <a:extLst>
              <a:ext uri="{FF2B5EF4-FFF2-40B4-BE49-F238E27FC236}">
                <a16:creationId xmlns:a16="http://schemas.microsoft.com/office/drawing/2014/main" id="{0CB23CC3-264A-EB70-D819-C4E11429D77C}"/>
              </a:ext>
            </a:extLst>
          </p:cNvPr>
          <p:cNvSpPr txBox="1"/>
          <p:nvPr/>
        </p:nvSpPr>
        <p:spPr>
          <a:xfrm>
            <a:off x="4419600" y="5181600"/>
            <a:ext cx="3352800" cy="431800"/>
          </a:xfrm>
          <a:prstGeom prst="rect">
            <a:avLst/>
          </a:prstGeom>
          <a:noFill/>
          <a:ln/>
        </p:spPr>
        <p:txBody>
          <a:bodyPr wrap="square" lIns="0" tIns="0" rIns="0" bIns="0" rtlCol="0" anchor="ctr"/>
          <a:lstStyle/>
          <a:p>
            <a:pPr marL="0" indent="0">
              <a:buNone/>
            </a:pPr>
            <a:r>
              <a:rPr lang="en-US" sz="3000" b="1">
                <a:solidFill>
                  <a:srgbClr val="C82B00"/>
                </a:solidFill>
                <a:latin typeface="Calibri" pitchFamily="34" charset="0"/>
                <a:ea typeface="Calibri" pitchFamily="34" charset="-122"/>
                <a:cs typeface="Calibri" pitchFamily="34" charset="-120"/>
              </a:rPr>
              <a:t>H2 (✓)</a:t>
            </a:r>
          </a:p>
        </p:txBody>
      </p:sp>
      <p:sp>
        <p:nvSpPr>
          <p:cNvPr id="27" name="Text 6">
            <a:extLst>
              <a:ext uri="{FF2B5EF4-FFF2-40B4-BE49-F238E27FC236}">
                <a16:creationId xmlns:a16="http://schemas.microsoft.com/office/drawing/2014/main" id="{6D3ACEFA-6F48-276B-3E35-1A12FA5C6862}"/>
              </a:ext>
            </a:extLst>
          </p:cNvPr>
          <p:cNvSpPr txBox="1"/>
          <p:nvPr/>
        </p:nvSpPr>
        <p:spPr>
          <a:xfrm>
            <a:off x="441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Extra predictors:</a:t>
            </a:r>
            <a:r>
              <a:rPr lang="en-US" sz="1100">
                <a:solidFill>
                  <a:srgbClr val="5A5A5A"/>
                </a:solidFill>
                <a:latin typeface="Calibri" pitchFamily="34" charset="0"/>
                <a:ea typeface="Calibri" pitchFamily="34" charset="-122"/>
                <a:cs typeface="Calibri" pitchFamily="34" charset="-120"/>
              </a:rPr>
              <a:t xml:space="preserve"> ML beats HAR at 1 day (RF 0.87, EN 0.89), but driven by one shock</a:t>
            </a:r>
          </a:p>
        </p:txBody>
      </p:sp>
      <p:sp>
        <p:nvSpPr>
          <p:cNvPr id="29" name="Text 7">
            <a:extLst>
              <a:ext uri="{FF2B5EF4-FFF2-40B4-BE49-F238E27FC236}">
                <a16:creationId xmlns:a16="http://schemas.microsoft.com/office/drawing/2014/main" id="{7D3F9002-A43B-418C-1A77-6C3EABD22685}"/>
              </a:ext>
            </a:extLst>
          </p:cNvPr>
          <p:cNvSpPr txBox="1"/>
          <p:nvPr/>
        </p:nvSpPr>
        <p:spPr>
          <a:xfrm>
            <a:off x="8229600" y="5181600"/>
            <a:ext cx="3352800" cy="431800"/>
          </a:xfrm>
          <a:prstGeom prst="rect">
            <a:avLst/>
          </a:prstGeom>
          <a:noFill/>
          <a:ln/>
        </p:spPr>
        <p:txBody>
          <a:bodyPr wrap="square" lIns="0" tIns="0" rIns="0" bIns="0" rtlCol="0" anchor="ctr"/>
          <a:lstStyle/>
          <a:p>
            <a:pPr marL="0" indent="0">
              <a:buNone/>
            </a:pPr>
            <a:r>
              <a:rPr lang="en-US" sz="3000" b="1">
                <a:solidFill>
                  <a:srgbClr val="5A5A5A"/>
                </a:solidFill>
                <a:latin typeface="Calibri" pitchFamily="34" charset="0"/>
                <a:ea typeface="Calibri" pitchFamily="34" charset="-122"/>
                <a:cs typeface="Calibri" pitchFamily="34" charset="-120"/>
              </a:rPr>
              <a:t>H3 ✗</a:t>
            </a:r>
          </a:p>
        </p:txBody>
      </p:sp>
      <p:sp>
        <p:nvSpPr>
          <p:cNvPr id="31" name="Text 8">
            <a:extLst>
              <a:ext uri="{FF2B5EF4-FFF2-40B4-BE49-F238E27FC236}">
                <a16:creationId xmlns:a16="http://schemas.microsoft.com/office/drawing/2014/main" id="{C204AC96-C46E-0FAC-E310-6C96E72CB0B0}"/>
              </a:ext>
            </a:extLst>
          </p:cNvPr>
          <p:cNvSpPr txBox="1"/>
          <p:nvPr/>
        </p:nvSpPr>
        <p:spPr>
          <a:xfrm>
            <a:off x="8229600" y="5638800"/>
            <a:ext cx="3352800" cy="508000"/>
          </a:xfrm>
          <a:prstGeom prst="rect">
            <a:avLst/>
          </a:prstGeom>
          <a:noFill/>
          <a:ln/>
        </p:spPr>
        <p:txBody>
          <a:bodyPr wrap="square" lIns="0" tIns="0" rIns="0" bIns="0" rtlCol="0" anchor="t"/>
          <a:lstStyle/>
          <a:p>
            <a:pPr marL="0" indent="0">
              <a:buNone/>
            </a:pPr>
            <a:r>
              <a:rPr lang="en-US" sz="1100" b="1">
                <a:solidFill>
                  <a:srgbClr val="5A5A5A"/>
                </a:solidFill>
                <a:latin typeface="Calibri" pitchFamily="34" charset="0"/>
                <a:ea typeface="Calibri" pitchFamily="34" charset="-122"/>
                <a:cs typeface="Calibri" pitchFamily="34" charset="-120"/>
              </a:rPr>
              <a:t>Longer horizons:</a:t>
            </a:r>
            <a:r>
              <a:rPr lang="en-US" sz="1100">
                <a:solidFill>
                  <a:srgbClr val="5A5A5A"/>
                </a:solidFill>
                <a:latin typeface="Calibri" pitchFamily="34" charset="0"/>
                <a:ea typeface="Calibri" pitchFamily="34" charset="-122"/>
                <a:cs typeface="Calibri" pitchFamily="34" charset="-120"/>
              </a:rPr>
              <a:t xml:space="preserve"> no growing edge; random forest 1.15 at one month (paper 0.60), 0.84 on log RV</a:t>
            </a:r>
          </a:p>
        </p:txBody>
      </p:sp>
      <p:sp>
        <p:nvSpPr>
          <p:cNvPr id="33" name="Text 9">
            <a:extLst>
              <a:ext uri="{FF2B5EF4-FFF2-40B4-BE49-F238E27FC236}">
                <a16:creationId xmlns:a16="http://schemas.microsoft.com/office/drawing/2014/main" id="{E0F10CCC-1BB4-1C09-63FC-C68B918CC614}"/>
              </a:ext>
            </a:extLst>
          </p:cNvPr>
          <p:cNvSpPr txBox="1"/>
          <p:nvPr/>
        </p:nvSpPr>
        <p:spPr>
          <a:xfrm>
            <a:off x="609600" y="6223000"/>
            <a:ext cx="10668000" cy="177800"/>
          </a:xfrm>
          <a:prstGeom prst="rect">
            <a:avLst/>
          </a:prstGeom>
          <a:noFill/>
          <a:ln/>
        </p:spPr>
        <p:txBody>
          <a:bodyPr wrap="square" lIns="0" tIns="0" rIns="0" bIns="0" rtlCol="0" anchor="ctr"/>
          <a:lstStyle/>
          <a:p>
            <a:pPr marL="0" indent="0">
              <a:buNone/>
            </a:pPr>
            <a:r>
              <a:rPr lang="en-US" sz="1000" i="1">
                <a:solidFill>
                  <a:srgbClr val="5A5A5A"/>
                </a:solidFill>
                <a:latin typeface="Calibri" pitchFamily="34" charset="0"/>
                <a:ea typeface="Calibri" pitchFamily="34" charset="-122"/>
                <a:cs typeface="Calibri" pitchFamily="34" charset="-120"/>
              </a:rPr>
              <a:t>Source: own replication; VOLARE 5-min RV, Dow 30, 2016–2026; baseline split, M_ALL; filled = ours, hollow = paper</a:t>
            </a:r>
          </a:p>
        </p:txBody>
      </p:sp>
      <p:pic>
        <p:nvPicPr>
          <p:cNvPr id="8" name="Picture 7">
            <a:extLst>
              <a:ext uri="{FF2B5EF4-FFF2-40B4-BE49-F238E27FC236}">
                <a16:creationId xmlns:a16="http://schemas.microsoft.com/office/drawing/2014/main" id="{1E570863-7F55-E49D-A1EF-F4D85FF0FD56}"/>
              </a:ext>
            </a:extLst>
          </p:cNvPr>
          <p:cNvPicPr>
            <a:picLocks noChangeAspect="1"/>
          </p:cNvPicPr>
          <p:nvPr/>
        </p:nvPicPr>
        <p:blipFill>
          <a:blip r:embed="rId3"/>
          <a:stretch>
            <a:fillRect/>
          </a:stretch>
        </p:blipFill>
        <p:spPr>
          <a:xfrm>
            <a:off x="1275459" y="1680000"/>
            <a:ext cx="9641081" cy="3380000"/>
          </a:xfrm>
          <a:prstGeom prst="rect">
            <a:avLst/>
          </a:prstGeom>
        </p:spPr>
      </p:pic>
    </p:spTree>
    <p:extLst>
      <p:ext uri="{BB962C8B-B14F-4D97-AF65-F5344CB8AC3E}">
        <p14:creationId xmlns:p14="http://schemas.microsoft.com/office/powerpoint/2010/main" val="1887357729"/>
      </p:ext>
    </p:extLst>
  </p:cSld>
  <p:clrMapOvr>
    <a:masterClrMapping/>
  </p:clrMapOvr>
</p:sld>
</file>

<file path=ppt/theme/theme1.xml><?xml version="1.0" encoding="utf-8"?>
<a:theme xmlns:a="http://schemas.openxmlformats.org/drawingml/2006/main" name="ChatGPT [1792482642728]">
  <a:themeElements>
    <a:clrScheme name="ChatGPT">
      <a:dk1>
        <a:srgbClr val="000000"/>
      </a:dk1>
      <a:lt1>
        <a:srgbClr val="FFFFFF"/>
      </a:lt1>
      <a:dk2>
        <a:srgbClr val="0E2841"/>
      </a:dk2>
      <a:lt2>
        <a:srgbClr val="E8E8E8"/>
      </a:lt2>
      <a:accent1>
        <a:srgbClr val="C82B00"/>
      </a:accent1>
      <a:accent2>
        <a:srgbClr val="5A5A5A"/>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4B068F-EBFC-4D6C-AE00-6A3469745F1E}">
  <we:reference id="wa200010725" version="1.0.0.1" store="en-US" storeType="OMEX"/>
  <we:alternateReferences>
    <we:reference id="WA200010725" version="1.0.0.1" store="" storeType="OMEX"/>
  </we:alternateReferences>
  <we:properties>
    <we:property name="claude.fileId" value="&quot;23da75fc-b1d6-4c78-9944-13bb203f8f3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23</Notes>
  <HiddenSlides>2</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ChatGPT [1792482642728]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15</cp:revision>
  <dcterms:created xsi:type="dcterms:W3CDTF">2026-09-15T17:24:15Z</dcterms:created>
  <dcterms:modified xsi:type="dcterms:W3CDTF">2026-10-21T18:42:26Z</dcterms:modified>
</cp:coreProperties>
</file>